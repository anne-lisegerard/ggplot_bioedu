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73" r:id="rId2"/>
    <p:sldId id="263" r:id="rId3"/>
    <p:sldId id="274" r:id="rId4"/>
    <p:sldId id="276" r:id="rId5"/>
    <p:sldId id="280" r:id="rId6"/>
    <p:sldId id="275" r:id="rId7"/>
    <p:sldId id="278" r:id="rId8"/>
    <p:sldId id="279" r:id="rId9"/>
    <p:sldId id="305" r:id="rId10"/>
    <p:sldId id="267" r:id="rId11"/>
    <p:sldId id="282" r:id="rId12"/>
    <p:sldId id="283" r:id="rId13"/>
    <p:sldId id="284" r:id="rId14"/>
    <p:sldId id="281" r:id="rId15"/>
    <p:sldId id="307" r:id="rId16"/>
    <p:sldId id="308" r:id="rId17"/>
    <p:sldId id="309" r:id="rId18"/>
    <p:sldId id="311" r:id="rId19"/>
    <p:sldId id="312" r:id="rId20"/>
    <p:sldId id="313" r:id="rId21"/>
    <p:sldId id="269" r:id="rId22"/>
    <p:sldId id="272" r:id="rId23"/>
    <p:sldId id="304" r:id="rId24"/>
    <p:sldId id="297" r:id="rId25"/>
    <p:sldId id="29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6001"/>
    <a:srgbClr val="0096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016575-2ECF-AD4B-98E7-E8196EA50608}" v="6" dt="2026-06-22T03:54:33.4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25"/>
    <p:restoredTop sz="82307"/>
  </p:normalViewPr>
  <p:slideViewPr>
    <p:cSldViewPr snapToGrid="0" showGuides="1">
      <p:cViewPr varScale="1">
        <p:scale>
          <a:sx n="124" d="100"/>
          <a:sy n="124" d="100"/>
        </p:scale>
        <p:origin x="1064" y="168"/>
      </p:cViewPr>
      <p:guideLst>
        <p:guide orient="horz" pos="2137"/>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F9A3B-4B5F-4834-8F1D-A3865BF494E8}" type="datetimeFigureOut">
              <a:t>6/23/26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2CEB64-3415-41E4-A4D1-0BFAE62DD19E}" type="slidenum">
              <a:t>‹#›</a:t>
            </a:fld>
            <a:endParaRPr lang="en-US"/>
          </a:p>
        </p:txBody>
      </p:sp>
    </p:spTree>
    <p:extLst>
      <p:ext uri="{BB962C8B-B14F-4D97-AF65-F5344CB8AC3E}">
        <p14:creationId xmlns:p14="http://schemas.microsoft.com/office/powerpoint/2010/main" val="1701368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ggplot2-book.org/layers.html#position" TargetMode="External"/><Relationship Id="rId3" Type="http://schemas.openxmlformats.org/officeDocument/2006/relationships/hyperlink" Target="https://ggplot2-book.org/getting-started.html#aesthetics" TargetMode="External"/><Relationship Id="rId7" Type="http://schemas.openxmlformats.org/officeDocument/2006/relationships/hyperlink" Target="https://ggplot2-book.org/statistical-summaries.html"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ggplot2-book.org/individual-geoms.html" TargetMode="External"/><Relationship Id="rId5" Type="http://schemas.openxmlformats.org/officeDocument/2006/relationships/hyperlink" Target="https://ggplot2-book.org/toolbox.html" TargetMode="External"/><Relationship Id="rId4" Type="http://schemas.openxmlformats.org/officeDocument/2006/relationships/hyperlink" Target="https://ggplot2.tidyverse.org/reference/aes.html"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ggplot2-book.org/scales-guides.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ggplot2-book.org/facet.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ggplot2-book.org/coord.html"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s://ggplot2-book.org/coord.html#polar-coordinates-with-coord_polar" TargetMode="External"/><Relationship Id="rId4" Type="http://schemas.openxmlformats.org/officeDocument/2006/relationships/hyperlink" Target="https://ggplot2-book.org/maps.html"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ggplot2-book.org/themes"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Why bother learning coding let alone </a:t>
            </a:r>
            <a:r>
              <a:rPr lang="en-AU" sz="1200" b="0" i="0" u="none" strike="noStrike" kern="1200" dirty="0" err="1">
                <a:solidFill>
                  <a:schemeClr val="tx1"/>
                </a:solidFill>
                <a:effectLst/>
                <a:latin typeface="+mn-lt"/>
                <a:ea typeface="+mn-ea"/>
                <a:cs typeface="+mn-cs"/>
              </a:rPr>
              <a:t>ggplot</a:t>
            </a:r>
            <a:r>
              <a:rPr lang="en-AU" sz="1200" b="0" i="0" u="none" strike="noStrike" kern="1200" dirty="0">
                <a:solidFill>
                  <a:schemeClr val="tx1"/>
                </a:solidFill>
                <a:effectLst/>
                <a:latin typeface="+mn-lt"/>
                <a:ea typeface="+mn-ea"/>
                <a:cs typeface="+mn-cs"/>
              </a:rPr>
              <a:t>? Let me convince you</a:t>
            </a:r>
          </a:p>
          <a:p>
            <a:r>
              <a:rPr lang="en-AU" sz="1200" b="1" i="0" u="none" strike="noStrike" kern="1200" dirty="0">
                <a:solidFill>
                  <a:schemeClr val="tx1"/>
                </a:solidFill>
                <a:effectLst/>
                <a:latin typeface="+mn-lt"/>
                <a:ea typeface="+mn-ea"/>
                <a:cs typeface="+mn-cs"/>
              </a:rPr>
              <a:t>Simple code -&gt; complex plots</a:t>
            </a:r>
          </a:p>
          <a:p>
            <a:r>
              <a:rPr lang="en-AU" sz="1200" b="0" i="0" u="none" strike="noStrike" kern="1200" dirty="0">
                <a:solidFill>
                  <a:schemeClr val="tx1"/>
                </a:solidFill>
                <a:effectLst/>
                <a:latin typeface="+mn-lt"/>
                <a:ea typeface="+mn-ea"/>
                <a:cs typeface="+mn-cs"/>
              </a:rPr>
              <a:t>Will dive deeper into what this code snippet means and how to construct a plot from scratch later. But the idea is you don’t need much to make something relatively complex. Example here with a </a:t>
            </a:r>
            <a:r>
              <a:rPr lang="en-AU" sz="1200" b="0" i="0" u="none" strike="noStrike" kern="1200" dirty="0" err="1">
                <a:solidFill>
                  <a:schemeClr val="tx1"/>
                </a:solidFill>
                <a:effectLst/>
                <a:latin typeface="+mn-lt"/>
                <a:ea typeface="+mn-ea"/>
                <a:cs typeface="+mn-cs"/>
              </a:rPr>
              <a:t>dotplot</a:t>
            </a:r>
            <a:r>
              <a:rPr lang="en-AU" sz="1200" b="0" i="0" u="none" strike="noStrike" kern="1200" dirty="0">
                <a:solidFill>
                  <a:schemeClr val="tx1"/>
                </a:solidFill>
                <a:effectLst/>
                <a:latin typeface="+mn-lt"/>
                <a:ea typeface="+mn-ea"/>
                <a:cs typeface="+mn-cs"/>
              </a:rPr>
              <a:t> of ALK &amp; MYCN expression in ZERO2 patients by disease. There is quite a bit of information on this plot yet only takes a few lines of code to construct.</a:t>
            </a:r>
            <a:endParaRPr lang="en-AU" sz="1200" b="1" i="0" u="none" strike="noStrike" kern="1200" dirty="0">
              <a:solidFill>
                <a:schemeClr val="tx1"/>
              </a:solidFill>
              <a:effectLst/>
              <a:latin typeface="+mn-lt"/>
              <a:ea typeface="+mn-ea"/>
              <a:cs typeface="+mn-cs"/>
            </a:endParaRPr>
          </a:p>
          <a:p>
            <a:endParaRPr lang="en-AU" sz="1200" b="0" i="0" u="none" strike="noStrike" kern="1200" dirty="0">
              <a:solidFill>
                <a:schemeClr val="tx1"/>
              </a:solidFill>
              <a:effectLst/>
              <a:latin typeface="+mn-lt"/>
              <a:ea typeface="+mn-ea"/>
              <a:cs typeface="+mn-cs"/>
            </a:endParaRPr>
          </a:p>
          <a:p>
            <a:r>
              <a:rPr lang="en-US" b="1" dirty="0"/>
              <a:t>Why not </a:t>
            </a:r>
            <a:r>
              <a:rPr lang="en-US" b="1" dirty="0" err="1"/>
              <a:t>baseR</a:t>
            </a:r>
            <a:r>
              <a:rPr lang="en-US" b="1" dirty="0"/>
              <a:t>?</a:t>
            </a:r>
          </a:p>
          <a:p>
            <a:r>
              <a:rPr lang="en-AU" sz="1200" b="0" i="0" u="none" strike="noStrike" kern="1200" dirty="0">
                <a:solidFill>
                  <a:schemeClr val="tx1"/>
                </a:solidFill>
                <a:effectLst/>
                <a:latin typeface="+mn-lt"/>
                <a:ea typeface="+mn-ea"/>
                <a:cs typeface="+mn-cs"/>
              </a:rPr>
              <a:t>Base graphics functions are generally fast, but have limited scope -&gt; good for data exploration.</a:t>
            </a:r>
          </a:p>
          <a:p>
            <a:r>
              <a:rPr lang="en-AU" sz="1200" b="0" i="0" u="none" strike="noStrike" kern="1200" dirty="0">
                <a:solidFill>
                  <a:schemeClr val="tx1"/>
                </a:solidFill>
                <a:effectLst/>
                <a:latin typeface="+mn-lt"/>
                <a:ea typeface="+mn-ea"/>
                <a:cs typeface="+mn-cs"/>
              </a:rPr>
              <a:t>As we’ll see later, </a:t>
            </a:r>
            <a:r>
              <a:rPr lang="en-AU" sz="1200" b="0" i="0" u="none" strike="noStrike" kern="1200" dirty="0" err="1">
                <a:solidFill>
                  <a:schemeClr val="tx1"/>
                </a:solidFill>
                <a:effectLst/>
                <a:latin typeface="+mn-lt"/>
                <a:ea typeface="+mn-ea"/>
                <a:cs typeface="+mn-cs"/>
              </a:rPr>
              <a:t>ggplot</a:t>
            </a:r>
            <a:r>
              <a:rPr lang="en-AU" sz="1200" b="0" i="0" u="none" strike="noStrike" kern="1200" dirty="0">
                <a:solidFill>
                  <a:schemeClr val="tx1"/>
                </a:solidFill>
                <a:effectLst/>
                <a:latin typeface="+mn-lt"/>
                <a:ea typeface="+mn-ea"/>
                <a:cs typeface="+mn-cs"/>
              </a:rPr>
              <a:t> is based on a “grammar of graphics” meaning every plot type you’ll make is composed of the same components, it’s more intuitive, simple to learn, and allows you to create plots that are tailored to your specific problem</a:t>
            </a:r>
          </a:p>
          <a:p>
            <a:endParaRPr lang="en-AU"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B2CEB64-3415-41E4-A4D1-0BFAE62DD19E}" type="slidenum">
              <a:rPr lang="en-AU" smtClean="0"/>
              <a:t>2</a:t>
            </a:fld>
            <a:endParaRPr lang="en-AU"/>
          </a:p>
        </p:txBody>
      </p:sp>
    </p:spTree>
    <p:extLst>
      <p:ext uri="{BB962C8B-B14F-4D97-AF65-F5344CB8AC3E}">
        <p14:creationId xmlns:p14="http://schemas.microsoft.com/office/powerpoint/2010/main" val="2123868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8C89D-CC8A-5D83-B838-A458D49AA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3D819-F7DE-DA1F-02C6-F557B9A4B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4C083-A3C3-8926-946A-327B881470F0}"/>
              </a:ext>
            </a:extLst>
          </p:cNvPr>
          <p:cNvSpPr>
            <a:spLocks noGrp="1"/>
          </p:cNvSpPr>
          <p:nvPr>
            <p:ph type="body" idx="1"/>
          </p:nvPr>
        </p:nvSpPr>
        <p:spPr/>
        <p:txBody>
          <a:bodyPr/>
          <a:lstStyle/>
          <a:p>
            <a:endParaRPr lang="en-AU" sz="1200" b="0" i="0" u="none" strike="noStrike" kern="1200" dirty="0">
              <a:solidFill>
                <a:schemeClr val="tx1"/>
              </a:solidFill>
              <a:effectLst/>
              <a:latin typeface="+mn-lt"/>
              <a:ea typeface="+mn-ea"/>
              <a:cs typeface="+mn-cs"/>
            </a:endParaRPr>
          </a:p>
          <a:p>
            <a:r>
              <a:rPr lang="en-AU" sz="1200" b="1" i="0" u="none" strike="noStrike" kern="1200" dirty="0">
                <a:solidFill>
                  <a:schemeClr val="tx1"/>
                </a:solidFill>
                <a:effectLst/>
                <a:latin typeface="+mn-lt"/>
                <a:ea typeface="+mn-ea"/>
                <a:cs typeface="+mn-cs"/>
              </a:rPr>
              <a:t>Flexible</a:t>
            </a:r>
          </a:p>
          <a:p>
            <a:r>
              <a:rPr lang="en-AU" sz="1200" b="0" i="0" u="none" strike="noStrike" kern="1200" dirty="0">
                <a:solidFill>
                  <a:schemeClr val="tx1"/>
                </a:solidFill>
                <a:effectLst/>
                <a:latin typeface="+mn-lt"/>
                <a:ea typeface="+mn-ea"/>
                <a:cs typeface="+mn-cs"/>
              </a:rPr>
              <a:t>No more spending hours to reformat plots when resubmitting a manuscript.</a:t>
            </a:r>
          </a:p>
          <a:p>
            <a:r>
              <a:rPr lang="en-AU" sz="1200" b="0" i="0" u="none" strike="noStrike" kern="1200" dirty="0">
                <a:solidFill>
                  <a:schemeClr val="tx1"/>
                </a:solidFill>
                <a:effectLst/>
                <a:latin typeface="+mn-lt"/>
                <a:ea typeface="+mn-ea"/>
                <a:cs typeface="+mn-cs"/>
              </a:rPr>
              <a:t>Packages such as </a:t>
            </a:r>
            <a:r>
              <a:rPr lang="en-AU" sz="1200" b="0" i="0" u="none" strike="noStrike" kern="1200" dirty="0" err="1">
                <a:solidFill>
                  <a:schemeClr val="tx1"/>
                </a:solidFill>
                <a:effectLst/>
                <a:latin typeface="+mn-lt"/>
                <a:ea typeface="+mn-ea"/>
                <a:cs typeface="+mn-cs"/>
              </a:rPr>
              <a:t>ggpubr</a:t>
            </a:r>
            <a:r>
              <a:rPr lang="en-AU" sz="1200" b="0" i="0" u="none" strike="noStrike" kern="1200" dirty="0">
                <a:solidFill>
                  <a:schemeClr val="tx1"/>
                </a:solidFill>
                <a:effectLst/>
                <a:latin typeface="+mn-lt"/>
                <a:ea typeface="+mn-ea"/>
                <a:cs typeface="+mn-cs"/>
              </a:rPr>
              <a:t> and </a:t>
            </a:r>
            <a:r>
              <a:rPr lang="en-AU" sz="1200" b="0" i="0" u="none" strike="noStrike" kern="1200" dirty="0" err="1">
                <a:solidFill>
                  <a:schemeClr val="tx1"/>
                </a:solidFill>
                <a:effectLst/>
                <a:latin typeface="+mn-lt"/>
                <a:ea typeface="+mn-ea"/>
                <a:cs typeface="+mn-cs"/>
              </a:rPr>
              <a:t>ggsci</a:t>
            </a:r>
            <a:r>
              <a:rPr lang="en-AU" sz="1200" b="0" i="0" u="none" strike="noStrike" kern="1200" dirty="0">
                <a:solidFill>
                  <a:schemeClr val="tx1"/>
                </a:solidFill>
                <a:effectLst/>
                <a:latin typeface="+mn-lt"/>
                <a:ea typeface="+mn-ea"/>
                <a:cs typeface="+mn-cs"/>
              </a:rPr>
              <a:t> -&gt; create publication ready plots in seconds, ticking every box in those pesky author guidelines. For this example, I applied the Nature Publishing Group colour palette and font requirements.</a:t>
            </a:r>
          </a:p>
          <a:p>
            <a:r>
              <a:rPr lang="en-AU" sz="1200" b="0" i="0" u="none" strike="noStrike" kern="1200" dirty="0" err="1">
                <a:solidFill>
                  <a:schemeClr val="tx1"/>
                </a:solidFill>
                <a:effectLst/>
                <a:latin typeface="+mn-lt"/>
                <a:ea typeface="+mn-ea"/>
                <a:cs typeface="+mn-cs"/>
              </a:rPr>
              <a:t>ggplot’s</a:t>
            </a:r>
            <a:r>
              <a:rPr lang="en-AU" sz="1200" b="0" i="0" u="none" strike="noStrike" kern="1200" dirty="0">
                <a:solidFill>
                  <a:schemeClr val="tx1"/>
                </a:solidFill>
                <a:effectLst/>
                <a:latin typeface="+mn-lt"/>
                <a:ea typeface="+mn-ea"/>
                <a:cs typeface="+mn-cs"/>
              </a:rPr>
              <a:t> comprehensive theming system makes it easy to do change the look of your plot how you want it.</a:t>
            </a:r>
          </a:p>
        </p:txBody>
      </p:sp>
      <p:sp>
        <p:nvSpPr>
          <p:cNvPr id="4" name="Slide Number Placeholder 3">
            <a:extLst>
              <a:ext uri="{FF2B5EF4-FFF2-40B4-BE49-F238E27FC236}">
                <a16:creationId xmlns:a16="http://schemas.microsoft.com/office/drawing/2014/main" id="{10CBC77E-6389-CE02-0FE0-8F1581C4AE8C}"/>
              </a:ext>
            </a:extLst>
          </p:cNvPr>
          <p:cNvSpPr>
            <a:spLocks noGrp="1"/>
          </p:cNvSpPr>
          <p:nvPr>
            <p:ph type="sldNum" sz="quarter" idx="5"/>
          </p:nvPr>
        </p:nvSpPr>
        <p:spPr/>
        <p:txBody>
          <a:bodyPr/>
          <a:lstStyle/>
          <a:p>
            <a:fld id="{EB2CEB64-3415-41E4-A4D1-0BFAE62DD19E}" type="slidenum">
              <a:rPr lang="en-AU" smtClean="0"/>
              <a:t>3</a:t>
            </a:fld>
            <a:endParaRPr lang="en-AU"/>
          </a:p>
        </p:txBody>
      </p:sp>
    </p:spTree>
    <p:extLst>
      <p:ext uri="{BB962C8B-B14F-4D97-AF65-F5344CB8AC3E}">
        <p14:creationId xmlns:p14="http://schemas.microsoft.com/office/powerpoint/2010/main" val="2116870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D603F-EBF1-C248-A0F3-B0FC72B45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0A2BD-ED04-2648-531C-7F02904AE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BD4BC-DDDD-FD34-3DDB-2D827F592C89}"/>
              </a:ext>
            </a:extLst>
          </p:cNvPr>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And I meant that literally. If you’re feeling like </a:t>
            </a:r>
            <a:r>
              <a:rPr lang="en-AU" sz="1200" b="0" i="0" u="none" strike="noStrike" kern="1200" dirty="0" err="1">
                <a:solidFill>
                  <a:schemeClr val="tx1"/>
                </a:solidFill>
                <a:effectLst/>
                <a:latin typeface="+mn-lt"/>
                <a:ea typeface="+mn-ea"/>
                <a:cs typeface="+mn-cs"/>
              </a:rPr>
              <a:t>spicying</a:t>
            </a:r>
            <a:r>
              <a:rPr lang="en-AU" sz="1200" b="0" i="0" u="none" strike="noStrike" kern="1200" dirty="0">
                <a:solidFill>
                  <a:schemeClr val="tx1"/>
                </a:solidFill>
                <a:effectLst/>
                <a:latin typeface="+mn-lt"/>
                <a:ea typeface="+mn-ea"/>
                <a:cs typeface="+mn-cs"/>
              </a:rPr>
              <a:t> up your lab presentation with Barbie themed plots, there is a package for that!</a:t>
            </a:r>
          </a:p>
        </p:txBody>
      </p:sp>
      <p:sp>
        <p:nvSpPr>
          <p:cNvPr id="4" name="Slide Number Placeholder 3">
            <a:extLst>
              <a:ext uri="{FF2B5EF4-FFF2-40B4-BE49-F238E27FC236}">
                <a16:creationId xmlns:a16="http://schemas.microsoft.com/office/drawing/2014/main" id="{82C7ACE8-4A1F-3E3F-0EEF-E55BB7DC4B52}"/>
              </a:ext>
            </a:extLst>
          </p:cNvPr>
          <p:cNvSpPr>
            <a:spLocks noGrp="1"/>
          </p:cNvSpPr>
          <p:nvPr>
            <p:ph type="sldNum" sz="quarter" idx="5"/>
          </p:nvPr>
        </p:nvSpPr>
        <p:spPr/>
        <p:txBody>
          <a:bodyPr/>
          <a:lstStyle/>
          <a:p>
            <a:fld id="{EB2CEB64-3415-41E4-A4D1-0BFAE62DD19E}" type="slidenum">
              <a:rPr lang="en-AU" smtClean="0"/>
              <a:t>4</a:t>
            </a:fld>
            <a:endParaRPr lang="en-AU"/>
          </a:p>
        </p:txBody>
      </p:sp>
    </p:spTree>
    <p:extLst>
      <p:ext uri="{BB962C8B-B14F-4D97-AF65-F5344CB8AC3E}">
        <p14:creationId xmlns:p14="http://schemas.microsoft.com/office/powerpoint/2010/main" val="2311095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30653-B544-BBA8-AF49-94D739F9C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DCF5B-46A7-520A-3767-A157FD6CD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35322-F794-814E-613B-53EC1AC7D38E}"/>
              </a:ext>
            </a:extLst>
          </p:cNvPr>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In fact, people have made entire packages including themes based on movies &amp; TV series, butterfly </a:t>
            </a:r>
            <a:r>
              <a:rPr lang="en-AU" sz="1200" b="0" i="0" u="none" strike="noStrike" kern="1200" dirty="0" err="1">
                <a:solidFill>
                  <a:schemeClr val="tx1"/>
                </a:solidFill>
                <a:effectLst/>
                <a:latin typeface="+mn-lt"/>
                <a:ea typeface="+mn-ea"/>
                <a:cs typeface="+mn-cs"/>
              </a:rPr>
              <a:t>colors</a:t>
            </a:r>
            <a:r>
              <a:rPr lang="en-AU" sz="1200" b="0" i="0" u="none" strike="noStrike" kern="1200" dirty="0">
                <a:solidFill>
                  <a:schemeClr val="tx1"/>
                </a:solidFill>
                <a:effectLst/>
                <a:latin typeface="+mn-lt"/>
                <a:ea typeface="+mn-ea"/>
                <a:cs typeface="+mn-cs"/>
              </a:rPr>
              <a:t>, and even Taylor Swift album covers. </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 </a:t>
            </a:r>
          </a:p>
        </p:txBody>
      </p:sp>
      <p:sp>
        <p:nvSpPr>
          <p:cNvPr id="4" name="Slide Number Placeholder 3">
            <a:extLst>
              <a:ext uri="{FF2B5EF4-FFF2-40B4-BE49-F238E27FC236}">
                <a16:creationId xmlns:a16="http://schemas.microsoft.com/office/drawing/2014/main" id="{D6436FB1-20EE-613F-4601-496AD42C9E65}"/>
              </a:ext>
            </a:extLst>
          </p:cNvPr>
          <p:cNvSpPr>
            <a:spLocks noGrp="1"/>
          </p:cNvSpPr>
          <p:nvPr>
            <p:ph type="sldNum" sz="quarter" idx="5"/>
          </p:nvPr>
        </p:nvSpPr>
        <p:spPr/>
        <p:txBody>
          <a:bodyPr/>
          <a:lstStyle/>
          <a:p>
            <a:fld id="{EB2CEB64-3415-41E4-A4D1-0BFAE62DD19E}" type="slidenum">
              <a:rPr lang="en-AU" smtClean="0"/>
              <a:t>5</a:t>
            </a:fld>
            <a:endParaRPr lang="en-AU"/>
          </a:p>
        </p:txBody>
      </p:sp>
    </p:spTree>
    <p:extLst>
      <p:ext uri="{BB962C8B-B14F-4D97-AF65-F5344CB8AC3E}">
        <p14:creationId xmlns:p14="http://schemas.microsoft.com/office/powerpoint/2010/main" val="329776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91ED3-93A5-A80A-431E-BE20FF051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30AC2-3D02-F8C6-10BF-68F909B45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9F8AC-B78C-F6B7-1BA0-AAA6DBFD26F9}"/>
              </a:ext>
            </a:extLst>
          </p:cNvPr>
          <p:cNvSpPr>
            <a:spLocks noGrp="1"/>
          </p:cNvSpPr>
          <p:nvPr>
            <p:ph type="body" idx="1"/>
          </p:nvPr>
        </p:nvSpPr>
        <p:spPr/>
        <p:txBody>
          <a:bodyPr/>
          <a:lstStyle/>
          <a:p>
            <a:r>
              <a:rPr lang="en-AU" sz="1200" b="1" i="0" u="none" strike="noStrike" kern="1200" dirty="0" err="1">
                <a:solidFill>
                  <a:schemeClr val="tx1"/>
                </a:solidFill>
                <a:effectLst/>
                <a:latin typeface="+mn-lt"/>
                <a:ea typeface="+mn-ea"/>
                <a:cs typeface="+mn-cs"/>
              </a:rPr>
              <a:t>Ggplot</a:t>
            </a:r>
            <a:r>
              <a:rPr lang="en-AU" sz="1200" b="1" i="0" u="none" strike="noStrike" kern="1200" dirty="0">
                <a:solidFill>
                  <a:schemeClr val="tx1"/>
                </a:solidFill>
                <a:effectLst/>
                <a:latin typeface="+mn-lt"/>
                <a:ea typeface="+mn-ea"/>
                <a:cs typeface="+mn-cs"/>
              </a:rPr>
              <a:t> is reproducible</a:t>
            </a:r>
            <a:r>
              <a:rPr lang="en-AU" sz="1200" b="0" i="0" u="none" strike="noStrike" kern="1200" dirty="0">
                <a:solidFill>
                  <a:schemeClr val="tx1"/>
                </a:solidFill>
                <a:effectLst/>
                <a:latin typeface="+mn-lt"/>
                <a:ea typeface="+mn-ea"/>
                <a:cs typeface="+mn-cs"/>
              </a:rPr>
              <a:t>. </a:t>
            </a:r>
          </a:p>
          <a:p>
            <a:r>
              <a:rPr lang="en-AU" sz="1200" b="0" i="0" u="none" strike="noStrike" kern="1200" dirty="0">
                <a:solidFill>
                  <a:schemeClr val="tx1"/>
                </a:solidFill>
                <a:effectLst/>
                <a:latin typeface="+mn-lt"/>
                <a:ea typeface="+mn-ea"/>
                <a:cs typeface="+mn-cs"/>
              </a:rPr>
              <a:t>It is easy for someone to look at your code, understand what transformations have been applied to the data and what exactly has been represented. </a:t>
            </a:r>
          </a:p>
          <a:p>
            <a:r>
              <a:rPr lang="en-AU" sz="1200" b="0" i="0" u="none" strike="noStrike" kern="1200" dirty="0">
                <a:solidFill>
                  <a:schemeClr val="tx1"/>
                </a:solidFill>
                <a:effectLst/>
                <a:latin typeface="+mn-lt"/>
                <a:ea typeface="+mn-ea"/>
                <a:cs typeface="+mn-cs"/>
              </a:rPr>
              <a:t>It is also easy for you and others to re-use code. Say you find a really cool Barbie-themed plot showing gene expression of different </a:t>
            </a:r>
            <a:r>
              <a:rPr lang="en-AU" sz="1200" b="0" i="0" u="none" strike="noStrike" kern="1200" dirty="0" err="1">
                <a:solidFill>
                  <a:schemeClr val="tx1"/>
                </a:solidFill>
                <a:effectLst/>
                <a:latin typeface="+mn-lt"/>
                <a:ea typeface="+mn-ea"/>
                <a:cs typeface="+mn-cs"/>
              </a:rPr>
              <a:t>pediatric</a:t>
            </a:r>
            <a:r>
              <a:rPr lang="en-AU" sz="1200" b="0" i="0" u="none" strike="noStrike" kern="1200" dirty="0">
                <a:solidFill>
                  <a:schemeClr val="tx1"/>
                </a:solidFill>
                <a:effectLst/>
                <a:latin typeface="+mn-lt"/>
                <a:ea typeface="+mn-ea"/>
                <a:cs typeface="+mn-cs"/>
              </a:rPr>
              <a:t> cancers but you want to apply it to a different question. </a:t>
            </a:r>
          </a:p>
          <a:p>
            <a:r>
              <a:rPr lang="en-AU" sz="1200" b="0" i="0" u="none" strike="noStrike" kern="1200" dirty="0">
                <a:solidFill>
                  <a:schemeClr val="tx1"/>
                </a:solidFill>
                <a:effectLst/>
                <a:latin typeface="+mn-lt"/>
                <a:ea typeface="+mn-ea"/>
                <a:cs typeface="+mn-cs"/>
              </a:rPr>
              <a:t>Completely unbiased example but say you want to figure out if  what makes spiders so big and scary are really their abdomen size or leg length? </a:t>
            </a:r>
          </a:p>
          <a:p>
            <a:r>
              <a:rPr lang="en-AU" sz="1200" b="0" i="0" u="none" strike="noStrike" kern="1200" dirty="0">
                <a:solidFill>
                  <a:schemeClr val="tx1"/>
                </a:solidFill>
                <a:effectLst/>
                <a:latin typeface="+mn-lt"/>
                <a:ea typeface="+mn-ea"/>
                <a:cs typeface="+mn-cs"/>
              </a:rPr>
              <a:t>You could fetch that data online, - and yes I have done that for fun, and plot abdomen length vs leg length with minimal changes to the code. And if you wonder, yes spiders appear big because of their long legs.</a:t>
            </a:r>
          </a:p>
        </p:txBody>
      </p:sp>
      <p:sp>
        <p:nvSpPr>
          <p:cNvPr id="4" name="Slide Number Placeholder 3">
            <a:extLst>
              <a:ext uri="{FF2B5EF4-FFF2-40B4-BE49-F238E27FC236}">
                <a16:creationId xmlns:a16="http://schemas.microsoft.com/office/drawing/2014/main" id="{1432BF66-C112-0092-8375-76A3B7DCFA51}"/>
              </a:ext>
            </a:extLst>
          </p:cNvPr>
          <p:cNvSpPr>
            <a:spLocks noGrp="1"/>
          </p:cNvSpPr>
          <p:nvPr>
            <p:ph type="sldNum" sz="quarter" idx="5"/>
          </p:nvPr>
        </p:nvSpPr>
        <p:spPr/>
        <p:txBody>
          <a:bodyPr/>
          <a:lstStyle/>
          <a:p>
            <a:fld id="{EB2CEB64-3415-41E4-A4D1-0BFAE62DD19E}" type="slidenum">
              <a:rPr lang="en-AU" smtClean="0"/>
              <a:t>6</a:t>
            </a:fld>
            <a:endParaRPr lang="en-AU"/>
          </a:p>
        </p:txBody>
      </p:sp>
    </p:spTree>
    <p:extLst>
      <p:ext uri="{BB962C8B-B14F-4D97-AF65-F5344CB8AC3E}">
        <p14:creationId xmlns:p14="http://schemas.microsoft.com/office/powerpoint/2010/main" val="736663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B778-6315-231A-5B0F-0222E60E4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64440-B9AE-CF49-0699-1F698D83C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BEADC-8CFA-C3F8-AA22-C3092CEDB46E}"/>
              </a:ext>
            </a:extLst>
          </p:cNvPr>
          <p:cNvSpPr>
            <a:spLocks noGrp="1"/>
          </p:cNvSpPr>
          <p:nvPr>
            <p:ph type="body" idx="1"/>
          </p:nvPr>
        </p:nvSpPr>
        <p:spPr/>
        <p:txBody>
          <a:bodyPr/>
          <a:lstStyle/>
          <a:p>
            <a:r>
              <a:rPr lang="en-AU" sz="1200" b="1" i="0" u="none" strike="noStrike" kern="1200" dirty="0" err="1">
                <a:solidFill>
                  <a:schemeClr val="tx1"/>
                </a:solidFill>
                <a:effectLst/>
                <a:latin typeface="+mn-lt"/>
                <a:ea typeface="+mn-ea"/>
                <a:cs typeface="+mn-cs"/>
              </a:rPr>
              <a:t>gguniverse</a:t>
            </a:r>
            <a:endParaRPr lang="en-AU" sz="1200" b="1"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You might have noticed by now that I introduced a few other packages that work well with </a:t>
            </a:r>
            <a:r>
              <a:rPr lang="en-AU" sz="1200" b="0" i="0" u="none" strike="noStrike" kern="1200" dirty="0" err="1">
                <a:solidFill>
                  <a:schemeClr val="tx1"/>
                </a:solidFill>
                <a:effectLst/>
                <a:latin typeface="+mn-lt"/>
                <a:ea typeface="+mn-ea"/>
                <a:cs typeface="+mn-cs"/>
              </a:rPr>
              <a:t>ggplot</a:t>
            </a:r>
            <a:r>
              <a:rPr lang="en-AU" sz="1200" b="0" i="0" u="none" strike="noStrike" kern="1200" dirty="0">
                <a:solidFill>
                  <a:schemeClr val="tx1"/>
                </a:solidFill>
                <a:effectLst/>
                <a:latin typeface="+mn-lt"/>
                <a:ea typeface="+mn-ea"/>
                <a:cs typeface="+mn-cs"/>
              </a:rPr>
              <a:t>. There is a true universe around </a:t>
            </a:r>
            <a:r>
              <a:rPr lang="en-AU" sz="1200" b="0" i="0" u="none" strike="noStrike" kern="1200" dirty="0" err="1">
                <a:solidFill>
                  <a:schemeClr val="tx1"/>
                </a:solidFill>
                <a:effectLst/>
                <a:latin typeface="+mn-lt"/>
                <a:ea typeface="+mn-ea"/>
                <a:cs typeface="+mn-cs"/>
              </a:rPr>
              <a:t>ggplot</a:t>
            </a:r>
            <a:r>
              <a:rPr lang="en-AU" sz="1200" b="0" i="0" u="none" strike="noStrike" kern="1200" dirty="0">
                <a:solidFill>
                  <a:schemeClr val="tx1"/>
                </a:solidFill>
                <a:effectLst/>
                <a:latin typeface="+mn-lt"/>
                <a:ea typeface="+mn-ea"/>
                <a:cs typeface="+mn-cs"/>
              </a:rPr>
              <a:t> – not kidding it’s called the </a:t>
            </a:r>
            <a:r>
              <a:rPr lang="en-AU" sz="1200" b="0" i="0" u="none" strike="noStrike" kern="1200" dirty="0" err="1">
                <a:solidFill>
                  <a:schemeClr val="tx1"/>
                </a:solidFill>
                <a:effectLst/>
                <a:latin typeface="+mn-lt"/>
                <a:ea typeface="+mn-ea"/>
                <a:cs typeface="+mn-cs"/>
              </a:rPr>
              <a:t>tidyverse</a:t>
            </a:r>
            <a:r>
              <a:rPr lang="en-AU" sz="1200" b="0" i="0" u="none" strike="noStrike" kern="1200" dirty="0">
                <a:solidFill>
                  <a:schemeClr val="tx1"/>
                </a:solidFill>
                <a:effectLst/>
                <a:latin typeface="+mn-lt"/>
                <a:ea typeface="+mn-ea"/>
                <a:cs typeface="+mn-cs"/>
              </a:rPr>
              <a:t>. </a:t>
            </a:r>
          </a:p>
          <a:p>
            <a:r>
              <a:rPr lang="en-AU" sz="1200" b="0" i="0" u="none" strike="noStrike" kern="1200" dirty="0">
                <a:solidFill>
                  <a:schemeClr val="tx1"/>
                </a:solidFill>
                <a:effectLst/>
                <a:latin typeface="+mn-lt"/>
                <a:ea typeface="+mn-ea"/>
                <a:cs typeface="+mn-cs"/>
              </a:rPr>
              <a:t>The core packages cover the main steps of a data analysis workflow: </a:t>
            </a:r>
            <a:r>
              <a:rPr lang="en-AU" sz="1200" b="0" i="0" u="none" strike="noStrike" kern="1200" dirty="0" err="1">
                <a:solidFill>
                  <a:schemeClr val="tx1"/>
                </a:solidFill>
                <a:effectLst/>
                <a:latin typeface="+mn-lt"/>
                <a:ea typeface="+mn-ea"/>
                <a:cs typeface="+mn-cs"/>
              </a:rPr>
              <a:t>readr</a:t>
            </a:r>
            <a:r>
              <a:rPr lang="en-AU" sz="1200" b="0" i="0" u="none" strike="noStrike" kern="1200" dirty="0">
                <a:solidFill>
                  <a:schemeClr val="tx1"/>
                </a:solidFill>
                <a:effectLst/>
                <a:latin typeface="+mn-lt"/>
                <a:ea typeface="+mn-ea"/>
                <a:cs typeface="+mn-cs"/>
              </a:rPr>
              <a:t> for importing data, </a:t>
            </a:r>
            <a:r>
              <a:rPr lang="en-AU" sz="1200" b="0" i="0" u="none" strike="noStrike" kern="1200" dirty="0" err="1">
                <a:solidFill>
                  <a:schemeClr val="tx1"/>
                </a:solidFill>
                <a:effectLst/>
                <a:latin typeface="+mn-lt"/>
                <a:ea typeface="+mn-ea"/>
                <a:cs typeface="+mn-cs"/>
              </a:rPr>
              <a:t>tidyr</a:t>
            </a:r>
            <a:r>
              <a:rPr lang="en-AU" sz="1200" b="0" i="0" u="none" strike="noStrike" kern="1200" dirty="0">
                <a:solidFill>
                  <a:schemeClr val="tx1"/>
                </a:solidFill>
                <a:effectLst/>
                <a:latin typeface="+mn-lt"/>
                <a:ea typeface="+mn-ea"/>
                <a:cs typeface="+mn-cs"/>
              </a:rPr>
              <a:t> for reshaping it, </a:t>
            </a:r>
            <a:r>
              <a:rPr lang="en-AU" sz="1200" b="0" i="0" u="none" strike="noStrike" kern="1200" dirty="0" err="1">
                <a:solidFill>
                  <a:schemeClr val="tx1"/>
                </a:solidFill>
                <a:effectLst/>
                <a:latin typeface="+mn-lt"/>
                <a:ea typeface="+mn-ea"/>
                <a:cs typeface="+mn-cs"/>
              </a:rPr>
              <a:t>dplyr</a:t>
            </a:r>
            <a:r>
              <a:rPr lang="en-AU" sz="1200" b="0" i="0" u="none" strike="noStrike" kern="1200" dirty="0">
                <a:solidFill>
                  <a:schemeClr val="tx1"/>
                </a:solidFill>
                <a:effectLst/>
                <a:latin typeface="+mn-lt"/>
                <a:ea typeface="+mn-ea"/>
                <a:cs typeface="+mn-cs"/>
              </a:rPr>
              <a:t> for manipulating it, ggplot2 for visualising it, and </a:t>
            </a:r>
            <a:r>
              <a:rPr lang="en-AU" sz="1200" b="0" i="0" u="none" strike="noStrike" kern="1200" dirty="0" err="1">
                <a:solidFill>
                  <a:schemeClr val="tx1"/>
                </a:solidFill>
                <a:effectLst/>
                <a:latin typeface="+mn-lt"/>
                <a:ea typeface="+mn-ea"/>
                <a:cs typeface="+mn-cs"/>
              </a:rPr>
              <a:t>purrr</a:t>
            </a:r>
            <a:r>
              <a:rPr lang="en-AU" sz="1200" b="0" i="0" u="none" strike="noStrike" kern="1200" dirty="0">
                <a:solidFill>
                  <a:schemeClr val="tx1"/>
                </a:solidFill>
                <a:effectLst/>
                <a:latin typeface="+mn-lt"/>
                <a:ea typeface="+mn-ea"/>
                <a:cs typeface="+mn-cs"/>
              </a:rPr>
              <a:t> for functional programming.</a:t>
            </a:r>
          </a:p>
        </p:txBody>
      </p:sp>
      <p:sp>
        <p:nvSpPr>
          <p:cNvPr id="4" name="Slide Number Placeholder 3">
            <a:extLst>
              <a:ext uri="{FF2B5EF4-FFF2-40B4-BE49-F238E27FC236}">
                <a16:creationId xmlns:a16="http://schemas.microsoft.com/office/drawing/2014/main" id="{0E3DBB7A-6C2A-0D91-240E-451063B5FD2C}"/>
              </a:ext>
            </a:extLst>
          </p:cNvPr>
          <p:cNvSpPr>
            <a:spLocks noGrp="1"/>
          </p:cNvSpPr>
          <p:nvPr>
            <p:ph type="sldNum" sz="quarter" idx="5"/>
          </p:nvPr>
        </p:nvSpPr>
        <p:spPr/>
        <p:txBody>
          <a:bodyPr/>
          <a:lstStyle/>
          <a:p>
            <a:fld id="{EB2CEB64-3415-41E4-A4D1-0BFAE62DD19E}" type="slidenum">
              <a:rPr lang="en-AU" smtClean="0"/>
              <a:t>7</a:t>
            </a:fld>
            <a:endParaRPr lang="en-AU"/>
          </a:p>
        </p:txBody>
      </p:sp>
    </p:spTree>
    <p:extLst>
      <p:ext uri="{BB962C8B-B14F-4D97-AF65-F5344CB8AC3E}">
        <p14:creationId xmlns:p14="http://schemas.microsoft.com/office/powerpoint/2010/main" val="2957434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D4706-D63B-58ED-6062-E8D84D6E4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85C0A-D4E7-7BDB-5953-4EB3E2004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7C956-0B98-5D4B-4FC9-038D13C8FFC7}"/>
              </a:ext>
            </a:extLst>
          </p:cNvPr>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But so many more packages have been developed to expand on ggplot2! Recommend checking out this GitHub repo.</a:t>
            </a:r>
          </a:p>
        </p:txBody>
      </p:sp>
      <p:sp>
        <p:nvSpPr>
          <p:cNvPr id="4" name="Slide Number Placeholder 3">
            <a:extLst>
              <a:ext uri="{FF2B5EF4-FFF2-40B4-BE49-F238E27FC236}">
                <a16:creationId xmlns:a16="http://schemas.microsoft.com/office/drawing/2014/main" id="{79100367-C0D4-E798-13BF-DF2B80203458}"/>
              </a:ext>
            </a:extLst>
          </p:cNvPr>
          <p:cNvSpPr>
            <a:spLocks noGrp="1"/>
          </p:cNvSpPr>
          <p:nvPr>
            <p:ph type="sldNum" sz="quarter" idx="5"/>
          </p:nvPr>
        </p:nvSpPr>
        <p:spPr/>
        <p:txBody>
          <a:bodyPr/>
          <a:lstStyle/>
          <a:p>
            <a:fld id="{EB2CEB64-3415-41E4-A4D1-0BFAE62DD19E}" type="slidenum">
              <a:rPr lang="en-AU" smtClean="0"/>
              <a:t>8</a:t>
            </a:fld>
            <a:endParaRPr lang="en-AU"/>
          </a:p>
        </p:txBody>
      </p:sp>
    </p:spTree>
    <p:extLst>
      <p:ext uri="{BB962C8B-B14F-4D97-AF65-F5344CB8AC3E}">
        <p14:creationId xmlns:p14="http://schemas.microsoft.com/office/powerpoint/2010/main" val="395764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01492-1554-739F-8A47-33850627A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00509-7683-F2CA-58A9-B05F00B1B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15EE2-9619-9DA3-3F75-669BEE1564F3}"/>
              </a:ext>
            </a:extLst>
          </p:cNvPr>
          <p:cNvSpPr>
            <a:spLocks noGrp="1"/>
          </p:cNvSpPr>
          <p:nvPr>
            <p:ph type="body" idx="1"/>
          </p:nvPr>
        </p:nvSpPr>
        <p:spPr/>
        <p:txBody>
          <a:bodyPr/>
          <a:lstStyle/>
          <a:p>
            <a:r>
              <a:rPr lang="en-US" dirty="0" err="1"/>
              <a:t>ggplot’s</a:t>
            </a:r>
            <a:r>
              <a:rPr lang="en-US" dirty="0"/>
              <a:t> unified syntax -&gt;it easy to make simple &amp; complex plots. And if there is interest, we might dive into some of these in a future </a:t>
            </a:r>
            <a:r>
              <a:rPr lang="en-US" dirty="0" err="1"/>
              <a:t>BioEdu</a:t>
            </a:r>
            <a:r>
              <a:rPr lang="en-US" dirty="0"/>
              <a:t> Workshop.</a:t>
            </a:r>
          </a:p>
          <a:p>
            <a:endParaRPr lang="en-AU"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BF86A32-695A-F89B-2603-AE06FCEF51D6}"/>
              </a:ext>
            </a:extLst>
          </p:cNvPr>
          <p:cNvSpPr>
            <a:spLocks noGrp="1"/>
          </p:cNvSpPr>
          <p:nvPr>
            <p:ph type="sldNum" sz="quarter" idx="5"/>
          </p:nvPr>
        </p:nvSpPr>
        <p:spPr/>
        <p:txBody>
          <a:bodyPr/>
          <a:lstStyle/>
          <a:p>
            <a:fld id="{EB2CEB64-3415-41E4-A4D1-0BFAE62DD19E}" type="slidenum">
              <a:rPr lang="en-AU" smtClean="0"/>
              <a:t>9</a:t>
            </a:fld>
            <a:endParaRPr lang="en-AU"/>
          </a:p>
        </p:txBody>
      </p:sp>
    </p:spTree>
    <p:extLst>
      <p:ext uri="{BB962C8B-B14F-4D97-AF65-F5344CB8AC3E}">
        <p14:creationId xmlns:p14="http://schemas.microsoft.com/office/powerpoint/2010/main" val="4171567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get ready to code! We’ll first ask you to download the GitHub repo at the following address. And open the notebook called </a:t>
            </a:r>
            <a:r>
              <a:rPr lang="en-US" b="1" dirty="0" err="1"/>
              <a:t>rdataviz_notebook.Rmd</a:t>
            </a:r>
            <a:endParaRPr lang="en-US" dirty="0"/>
          </a:p>
        </p:txBody>
      </p:sp>
      <p:sp>
        <p:nvSpPr>
          <p:cNvPr id="4" name="Slide Number Placeholder 3"/>
          <p:cNvSpPr>
            <a:spLocks noGrp="1"/>
          </p:cNvSpPr>
          <p:nvPr>
            <p:ph type="sldNum" sz="quarter" idx="5"/>
          </p:nvPr>
        </p:nvSpPr>
        <p:spPr/>
        <p:txBody>
          <a:bodyPr/>
          <a:lstStyle/>
          <a:p>
            <a:fld id="{EB2CEB64-3415-41E4-A4D1-0BFAE62DD19E}" type="slidenum">
              <a:rPr lang="en-AU" smtClean="0"/>
              <a:t>10</a:t>
            </a:fld>
            <a:endParaRPr lang="en-AU"/>
          </a:p>
        </p:txBody>
      </p:sp>
    </p:spTree>
    <p:extLst>
      <p:ext uri="{BB962C8B-B14F-4D97-AF65-F5344CB8AC3E}">
        <p14:creationId xmlns:p14="http://schemas.microsoft.com/office/powerpoint/2010/main" val="3951872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0E5BB-EED6-8252-7BE6-F3D20603B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15479-3589-FDE6-1616-15884BAC0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120BF-F9C2-0161-098D-97B327D38CF1}"/>
              </a:ext>
            </a:extLst>
          </p:cNvPr>
          <p:cNvSpPr>
            <a:spLocks noGrp="1"/>
          </p:cNvSpPr>
          <p:nvPr>
            <p:ph type="body" idx="1"/>
          </p:nvPr>
        </p:nvSpPr>
        <p:spPr/>
        <p:txBody>
          <a:bodyPr/>
          <a:lstStyle/>
          <a:p>
            <a:r>
              <a:rPr lang="en-US" b="1" dirty="0"/>
              <a:t>XXXXXXXXXX reminder help?</a:t>
            </a:r>
          </a:p>
        </p:txBody>
      </p:sp>
      <p:sp>
        <p:nvSpPr>
          <p:cNvPr id="4" name="Slide Number Placeholder 3">
            <a:extLst>
              <a:ext uri="{FF2B5EF4-FFF2-40B4-BE49-F238E27FC236}">
                <a16:creationId xmlns:a16="http://schemas.microsoft.com/office/drawing/2014/main" id="{CF2B8CFF-7B20-A2BE-4540-FAD5B3E05DDE}"/>
              </a:ext>
            </a:extLst>
          </p:cNvPr>
          <p:cNvSpPr>
            <a:spLocks noGrp="1"/>
          </p:cNvSpPr>
          <p:nvPr>
            <p:ph type="sldNum" sz="quarter" idx="5"/>
          </p:nvPr>
        </p:nvSpPr>
        <p:spPr/>
        <p:txBody>
          <a:bodyPr/>
          <a:lstStyle/>
          <a:p>
            <a:fld id="{EB2CEB64-3415-41E4-A4D1-0BFAE62DD19E}" type="slidenum">
              <a:rPr lang="en-AU" smtClean="0"/>
              <a:t>11</a:t>
            </a:fld>
            <a:endParaRPr lang="en-AU"/>
          </a:p>
        </p:txBody>
      </p:sp>
    </p:spTree>
    <p:extLst>
      <p:ext uri="{BB962C8B-B14F-4D97-AF65-F5344CB8AC3E}">
        <p14:creationId xmlns:p14="http://schemas.microsoft.com/office/powerpoint/2010/main" val="2791532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E8EF-DB8E-E295-82B9-7B860B2E8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8C867-232C-2F70-9596-EF33F54C3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81148-BB96-E876-8F69-D3F11998891B}"/>
              </a:ext>
            </a:extLst>
          </p:cNvPr>
          <p:cNvSpPr>
            <a:spLocks noGrp="1"/>
          </p:cNvSpPr>
          <p:nvPr>
            <p:ph type="body" idx="1"/>
          </p:nvPr>
        </p:nvSpPr>
        <p:spPr/>
        <p:txBody>
          <a:bodyPr/>
          <a:lstStyle/>
          <a:p>
            <a:r>
              <a:rPr lang="en-US" dirty="0"/>
              <a:t>Let’s start by introducing -- or reminding you if you attended Sam’s </a:t>
            </a:r>
            <a:r>
              <a:rPr lang="en-US" dirty="0" err="1"/>
              <a:t>ggoncoplot</a:t>
            </a:r>
            <a:r>
              <a:rPr lang="en-US" dirty="0"/>
              <a:t> workshop -- what a tidy dataset is. </a:t>
            </a:r>
          </a:p>
          <a:p>
            <a:r>
              <a:rPr lang="en-US" dirty="0"/>
              <a:t>1 variable = 1 column</a:t>
            </a:r>
          </a:p>
          <a:p>
            <a:r>
              <a:rPr lang="en-US" dirty="0"/>
              <a:t>1 observation = 1 row</a:t>
            </a:r>
          </a:p>
          <a:p>
            <a:r>
              <a:rPr lang="en-US" dirty="0"/>
              <a:t>1 cell = 1 measurement</a:t>
            </a:r>
          </a:p>
        </p:txBody>
      </p:sp>
      <p:sp>
        <p:nvSpPr>
          <p:cNvPr id="4" name="Slide Number Placeholder 3">
            <a:extLst>
              <a:ext uri="{FF2B5EF4-FFF2-40B4-BE49-F238E27FC236}">
                <a16:creationId xmlns:a16="http://schemas.microsoft.com/office/drawing/2014/main" id="{5161E35A-71FE-0309-EF48-46F7964387A5}"/>
              </a:ext>
            </a:extLst>
          </p:cNvPr>
          <p:cNvSpPr>
            <a:spLocks noGrp="1"/>
          </p:cNvSpPr>
          <p:nvPr>
            <p:ph type="sldNum" sz="quarter" idx="5"/>
          </p:nvPr>
        </p:nvSpPr>
        <p:spPr/>
        <p:txBody>
          <a:bodyPr/>
          <a:lstStyle/>
          <a:p>
            <a:fld id="{EB2CEB64-3415-41E4-A4D1-0BFAE62DD19E}" type="slidenum">
              <a:rPr lang="en-AU" smtClean="0"/>
              <a:t>12</a:t>
            </a:fld>
            <a:endParaRPr lang="en-AU"/>
          </a:p>
        </p:txBody>
      </p:sp>
    </p:spTree>
    <p:extLst>
      <p:ext uri="{BB962C8B-B14F-4D97-AF65-F5344CB8AC3E}">
        <p14:creationId xmlns:p14="http://schemas.microsoft.com/office/powerpoint/2010/main" val="1224606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0F90D-C847-AB34-52CA-8FC265B39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7EA81-2BDC-B061-CBF1-CC568D0C1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C9FAF-606F-E537-FA21-D652AA5F5C58}"/>
              </a:ext>
            </a:extLst>
          </p:cNvPr>
          <p:cNvSpPr>
            <a:spLocks noGrp="1"/>
          </p:cNvSpPr>
          <p:nvPr>
            <p:ph type="body" idx="1"/>
          </p:nvPr>
        </p:nvSpPr>
        <p:spPr/>
        <p:txBody>
          <a:bodyPr/>
          <a:lstStyle/>
          <a:p>
            <a:r>
              <a:rPr lang="en-AU" sz="1200" kern="1200" dirty="0">
                <a:solidFill>
                  <a:schemeClr val="tx1"/>
                </a:solidFill>
                <a:effectLst/>
                <a:latin typeface="+mn-lt"/>
                <a:ea typeface="+mn-ea"/>
                <a:cs typeface="+mn-cs"/>
              </a:rPr>
              <a:t>ggplot2 is based on the grammar of graphics</a:t>
            </a:r>
          </a:p>
          <a:p>
            <a:r>
              <a:rPr lang="en-AU" sz="1200" kern="1200" dirty="0">
                <a:solidFill>
                  <a:schemeClr val="tx1"/>
                </a:solidFill>
                <a:effectLst/>
                <a:latin typeface="+mn-lt"/>
                <a:ea typeface="+mn-ea"/>
                <a:cs typeface="+mn-cs"/>
              </a:rPr>
              <a:t>the idea is that you can build every graph from the same components. </a:t>
            </a:r>
            <a:r>
              <a:rPr lang="en-US" dirty="0"/>
              <a:t>Of all these, only three are strictly necessary: data + mapping and layers. </a:t>
            </a:r>
          </a:p>
          <a:p>
            <a:endParaRPr lang="en-US" dirty="0"/>
          </a:p>
          <a:p>
            <a:r>
              <a:rPr lang="en-AU" sz="1200" b="0" i="0" u="none" strike="noStrike" kern="1200" dirty="0">
                <a:solidFill>
                  <a:schemeClr val="tx1"/>
                </a:solidFill>
                <a:effectLst/>
                <a:latin typeface="+mn-lt"/>
                <a:ea typeface="+mn-ea"/>
                <a:cs typeface="+mn-cs"/>
              </a:rPr>
              <a:t>The </a:t>
            </a:r>
            <a:r>
              <a:rPr lang="en-AU" sz="1200" b="0" i="0" u="sng" strike="noStrike" kern="1200" dirty="0">
                <a:solidFill>
                  <a:schemeClr val="tx1"/>
                </a:solidFill>
                <a:effectLst/>
                <a:latin typeface="+mn-lt"/>
                <a:ea typeface="+mn-ea"/>
                <a:cs typeface="+mn-cs"/>
                <a:hlinkClick r:id="rId3"/>
              </a:rPr>
              <a:t>mapping</a:t>
            </a:r>
            <a:r>
              <a:rPr lang="en-AU" sz="1200" b="0" i="0" u="none" strike="noStrike" kern="1200" dirty="0">
                <a:solidFill>
                  <a:schemeClr val="tx1"/>
                </a:solidFill>
                <a:effectLst/>
                <a:latin typeface="+mn-lt"/>
                <a:ea typeface="+mn-ea"/>
                <a:cs typeface="+mn-cs"/>
              </a:rPr>
              <a:t> of a plot is a set of instructions on how parts of the data are mapped onto the graphics elements of your plot. For example, the variable that you will represent on the x &amp; y axis.</a:t>
            </a:r>
          </a:p>
          <a:p>
            <a:r>
              <a:rPr lang="en-AU" sz="1200" b="0" i="0" u="none" strike="noStrike" kern="1200" dirty="0">
                <a:solidFill>
                  <a:schemeClr val="tx1"/>
                </a:solidFill>
                <a:effectLst/>
                <a:latin typeface="+mn-lt"/>
                <a:ea typeface="+mn-ea"/>
                <a:cs typeface="+mn-cs"/>
              </a:rPr>
              <a:t>A mapping can be made by using the </a:t>
            </a:r>
            <a:r>
              <a:rPr lang="en-AU" sz="1200" b="0" i="0" u="sng" strike="noStrike" kern="1200" dirty="0">
                <a:solidFill>
                  <a:schemeClr val="tx1"/>
                </a:solidFill>
                <a:effectLst/>
                <a:latin typeface="+mn-lt"/>
                <a:ea typeface="+mn-ea"/>
                <a:cs typeface="+mn-cs"/>
                <a:hlinkClick r:id="rId4"/>
              </a:rPr>
              <a:t>aes()</a:t>
            </a:r>
            <a:r>
              <a:rPr lang="en-AU" sz="1200" b="0" i="0" u="none" strike="noStrike" kern="1200" dirty="0">
                <a:solidFill>
                  <a:schemeClr val="tx1"/>
                </a:solidFill>
                <a:effectLst/>
                <a:latin typeface="+mn-lt"/>
                <a:ea typeface="+mn-ea"/>
                <a:cs typeface="+mn-cs"/>
              </a:rPr>
              <a:t> </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The heart of any graphic is the </a:t>
            </a:r>
            <a:r>
              <a:rPr lang="en-AU" sz="1200" b="0" i="0" u="sng" strike="noStrike" kern="1200" dirty="0">
                <a:solidFill>
                  <a:schemeClr val="tx1"/>
                </a:solidFill>
                <a:effectLst/>
                <a:latin typeface="+mn-lt"/>
                <a:ea typeface="+mn-ea"/>
                <a:cs typeface="+mn-cs"/>
                <a:hlinkClick r:id="rId5"/>
              </a:rPr>
              <a:t>layers</a:t>
            </a:r>
            <a:r>
              <a:rPr lang="en-AU" sz="1200" b="0" i="0" u="none" strike="noStrike" kern="1200" dirty="0">
                <a:solidFill>
                  <a:schemeClr val="tx1"/>
                </a:solidFill>
                <a:effectLst/>
                <a:latin typeface="+mn-lt"/>
                <a:ea typeface="+mn-ea"/>
                <a:cs typeface="+mn-cs"/>
              </a:rPr>
              <a:t>. They take the mapped data and display it in something humans can understand as a representation of the data. </a:t>
            </a:r>
          </a:p>
          <a:p>
            <a:r>
              <a:rPr lang="en-AU" sz="1200" b="0" i="0" u="none" strike="noStrike" kern="1200" dirty="0">
                <a:solidFill>
                  <a:schemeClr val="tx1"/>
                </a:solidFill>
                <a:effectLst/>
                <a:latin typeface="+mn-lt"/>
                <a:ea typeface="+mn-ea"/>
                <a:cs typeface="+mn-cs"/>
              </a:rPr>
              <a:t>The </a:t>
            </a:r>
            <a:r>
              <a:rPr lang="en-AU" sz="1200" b="1" i="0" u="sng" strike="noStrike" kern="1200" dirty="0">
                <a:solidFill>
                  <a:schemeClr val="tx1"/>
                </a:solidFill>
                <a:effectLst/>
                <a:latin typeface="+mn-lt"/>
                <a:ea typeface="+mn-ea"/>
                <a:cs typeface="+mn-cs"/>
                <a:hlinkClick r:id="rId6"/>
              </a:rPr>
              <a:t>geometry</a:t>
            </a:r>
            <a:r>
              <a:rPr lang="en-AU" sz="1200" b="0" i="0" u="none" strike="noStrike" kern="1200" dirty="0">
                <a:solidFill>
                  <a:schemeClr val="tx1"/>
                </a:solidFill>
                <a:effectLst/>
                <a:latin typeface="+mn-lt"/>
                <a:ea typeface="+mn-ea"/>
                <a:cs typeface="+mn-cs"/>
              </a:rPr>
              <a:t> that determines </a:t>
            </a:r>
            <a:r>
              <a:rPr lang="en-AU" sz="1200" b="0" i="1" u="none" strike="noStrike" kern="1200" dirty="0">
                <a:solidFill>
                  <a:schemeClr val="tx1"/>
                </a:solidFill>
                <a:effectLst/>
                <a:latin typeface="+mn-lt"/>
                <a:ea typeface="+mn-ea"/>
                <a:cs typeface="+mn-cs"/>
              </a:rPr>
              <a:t>how</a:t>
            </a:r>
            <a:r>
              <a:rPr lang="en-AU" sz="1200" b="0" i="0" u="none" strike="noStrike" kern="1200" dirty="0">
                <a:solidFill>
                  <a:schemeClr val="tx1"/>
                </a:solidFill>
                <a:effectLst/>
                <a:latin typeface="+mn-lt"/>
                <a:ea typeface="+mn-ea"/>
                <a:cs typeface="+mn-cs"/>
              </a:rPr>
              <a:t> data are displayed, such as points, lines, or rectangles.</a:t>
            </a:r>
          </a:p>
          <a:p>
            <a:r>
              <a:rPr lang="en-AU" sz="1200" b="0" i="0" u="none" strike="noStrike" kern="1200" dirty="0">
                <a:solidFill>
                  <a:schemeClr val="tx1"/>
                </a:solidFill>
                <a:effectLst/>
                <a:latin typeface="+mn-lt"/>
                <a:ea typeface="+mn-ea"/>
                <a:cs typeface="+mn-cs"/>
              </a:rPr>
              <a:t>The </a:t>
            </a:r>
            <a:r>
              <a:rPr lang="en-AU" sz="1200" b="1" i="0" u="sng" strike="noStrike" kern="1200" dirty="0">
                <a:solidFill>
                  <a:schemeClr val="tx1"/>
                </a:solidFill>
                <a:effectLst/>
                <a:latin typeface="+mn-lt"/>
                <a:ea typeface="+mn-ea"/>
                <a:cs typeface="+mn-cs"/>
                <a:hlinkClick r:id="rId7"/>
              </a:rPr>
              <a:t>statistical transformation</a:t>
            </a:r>
            <a:r>
              <a:rPr lang="en-AU" sz="1200" b="0" i="0" u="none" strike="noStrike" kern="1200" dirty="0">
                <a:solidFill>
                  <a:schemeClr val="tx1"/>
                </a:solidFill>
                <a:effectLst/>
                <a:latin typeface="+mn-lt"/>
                <a:ea typeface="+mn-ea"/>
                <a:cs typeface="+mn-cs"/>
              </a:rPr>
              <a:t> that may compute new variables from the data and affect </a:t>
            </a:r>
            <a:r>
              <a:rPr lang="en-AU" sz="1200" b="0" i="1" u="none" strike="noStrike" kern="1200" dirty="0">
                <a:solidFill>
                  <a:schemeClr val="tx1"/>
                </a:solidFill>
                <a:effectLst/>
                <a:latin typeface="+mn-lt"/>
                <a:ea typeface="+mn-ea"/>
                <a:cs typeface="+mn-cs"/>
              </a:rPr>
              <a:t>what</a:t>
            </a:r>
            <a:r>
              <a:rPr lang="en-AU" sz="1200" b="0" i="0" u="none" strike="noStrike" kern="1200" dirty="0">
                <a:solidFill>
                  <a:schemeClr val="tx1"/>
                </a:solidFill>
                <a:effectLst/>
                <a:latin typeface="+mn-lt"/>
                <a:ea typeface="+mn-ea"/>
                <a:cs typeface="+mn-cs"/>
              </a:rPr>
              <a:t> of the data is displayed.</a:t>
            </a:r>
          </a:p>
          <a:p>
            <a:r>
              <a:rPr lang="en-AU" sz="1200" b="0" i="0" u="none" strike="noStrike" kern="1200" dirty="0">
                <a:solidFill>
                  <a:schemeClr val="tx1"/>
                </a:solidFill>
                <a:effectLst/>
                <a:latin typeface="+mn-lt"/>
                <a:ea typeface="+mn-ea"/>
                <a:cs typeface="+mn-cs"/>
              </a:rPr>
              <a:t>The </a:t>
            </a:r>
            <a:r>
              <a:rPr lang="en-AU" sz="1200" b="1" i="0" u="sng" strike="noStrike" kern="1200" dirty="0">
                <a:solidFill>
                  <a:schemeClr val="tx1"/>
                </a:solidFill>
                <a:effectLst/>
                <a:latin typeface="+mn-lt"/>
                <a:ea typeface="+mn-ea"/>
                <a:cs typeface="+mn-cs"/>
                <a:hlinkClick r:id="rId8"/>
              </a:rPr>
              <a:t>position adjustment</a:t>
            </a:r>
            <a:r>
              <a:rPr lang="en-AU" sz="1200" b="0" i="0" u="none" strike="noStrike" kern="1200" dirty="0">
                <a:solidFill>
                  <a:schemeClr val="tx1"/>
                </a:solidFill>
                <a:effectLst/>
                <a:latin typeface="+mn-lt"/>
                <a:ea typeface="+mn-ea"/>
                <a:cs typeface="+mn-cs"/>
              </a:rPr>
              <a:t> that primarily determines </a:t>
            </a:r>
            <a:r>
              <a:rPr lang="en-AU" sz="1200" b="0" i="1" u="none" strike="noStrike" kern="1200" dirty="0">
                <a:solidFill>
                  <a:schemeClr val="tx1"/>
                </a:solidFill>
                <a:effectLst/>
                <a:latin typeface="+mn-lt"/>
                <a:ea typeface="+mn-ea"/>
                <a:cs typeface="+mn-cs"/>
              </a:rPr>
              <a:t>where</a:t>
            </a:r>
            <a:r>
              <a:rPr lang="en-AU" sz="1200" b="0" i="0" u="none" strike="noStrike" kern="1200" dirty="0">
                <a:solidFill>
                  <a:schemeClr val="tx1"/>
                </a:solidFill>
                <a:effectLst/>
                <a:latin typeface="+mn-lt"/>
                <a:ea typeface="+mn-ea"/>
                <a:cs typeface="+mn-cs"/>
              </a:rPr>
              <a:t> a piece of data is being displayed.</a:t>
            </a:r>
          </a:p>
          <a:p>
            <a:endParaRPr lang="en-US" dirty="0"/>
          </a:p>
          <a:p>
            <a:endParaRPr lang="en-US" dirty="0"/>
          </a:p>
          <a:p>
            <a:r>
              <a:rPr lang="en-US" dirty="0"/>
              <a:t>Now we’ll dive into the </a:t>
            </a:r>
            <a:r>
              <a:rPr lang="en-US" dirty="0" err="1"/>
              <a:t>exercices</a:t>
            </a:r>
            <a:r>
              <a:rPr lang="en-US" dirty="0"/>
              <a:t> where you’ll build your first </a:t>
            </a:r>
            <a:r>
              <a:rPr lang="en-US" dirty="0" err="1"/>
              <a:t>ggplot</a:t>
            </a:r>
            <a:r>
              <a:rPr lang="en-US" dirty="0"/>
              <a:t> component by component!</a:t>
            </a:r>
          </a:p>
        </p:txBody>
      </p:sp>
      <p:sp>
        <p:nvSpPr>
          <p:cNvPr id="4" name="Slide Number Placeholder 3">
            <a:extLst>
              <a:ext uri="{FF2B5EF4-FFF2-40B4-BE49-F238E27FC236}">
                <a16:creationId xmlns:a16="http://schemas.microsoft.com/office/drawing/2014/main" id="{7346FD35-628A-91D1-8AF0-740943ED8D87}"/>
              </a:ext>
            </a:extLst>
          </p:cNvPr>
          <p:cNvSpPr>
            <a:spLocks noGrp="1"/>
          </p:cNvSpPr>
          <p:nvPr>
            <p:ph type="sldNum" sz="quarter" idx="5"/>
          </p:nvPr>
        </p:nvSpPr>
        <p:spPr/>
        <p:txBody>
          <a:bodyPr/>
          <a:lstStyle/>
          <a:p>
            <a:fld id="{EB2CEB64-3415-41E4-A4D1-0BFAE62DD19E}" type="slidenum">
              <a:rPr lang="en-AU" smtClean="0"/>
              <a:t>13</a:t>
            </a:fld>
            <a:endParaRPr lang="en-AU"/>
          </a:p>
        </p:txBody>
      </p:sp>
    </p:spTree>
    <p:extLst>
      <p:ext uri="{BB962C8B-B14F-4D97-AF65-F5344CB8AC3E}">
        <p14:creationId xmlns:p14="http://schemas.microsoft.com/office/powerpoint/2010/main" val="1527213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2CEB64-3415-41E4-A4D1-0BFAE62DD19E}" type="slidenum">
              <a:rPr lang="en-AU" smtClean="0"/>
              <a:t>14</a:t>
            </a:fld>
            <a:endParaRPr lang="en-AU"/>
          </a:p>
        </p:txBody>
      </p:sp>
    </p:spTree>
    <p:extLst>
      <p:ext uri="{BB962C8B-B14F-4D97-AF65-F5344CB8AC3E}">
        <p14:creationId xmlns:p14="http://schemas.microsoft.com/office/powerpoint/2010/main" val="716225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A28B7-9FF7-29E8-6BC1-5A3AA098F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6CF11-3F7B-571E-2351-CA39C5AA7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27B91-AE0F-C223-1070-2175C17971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BC116C-31A2-890D-88B8-5841194EA800}"/>
              </a:ext>
            </a:extLst>
          </p:cNvPr>
          <p:cNvSpPr>
            <a:spLocks noGrp="1"/>
          </p:cNvSpPr>
          <p:nvPr>
            <p:ph type="sldNum" sz="quarter" idx="5"/>
          </p:nvPr>
        </p:nvSpPr>
        <p:spPr/>
        <p:txBody>
          <a:bodyPr/>
          <a:lstStyle/>
          <a:p>
            <a:fld id="{EB2CEB64-3415-41E4-A4D1-0BFAE62DD19E}" type="slidenum">
              <a:rPr lang="en-AU" smtClean="0"/>
              <a:t>15</a:t>
            </a:fld>
            <a:endParaRPr lang="en-AU"/>
          </a:p>
        </p:txBody>
      </p:sp>
    </p:spTree>
    <p:extLst>
      <p:ext uri="{BB962C8B-B14F-4D97-AF65-F5344CB8AC3E}">
        <p14:creationId xmlns:p14="http://schemas.microsoft.com/office/powerpoint/2010/main" val="2462815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F5913-F681-C916-7D40-9ACF52FE5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25872-F2AE-118E-6D98-ED765A500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F4A55-046E-0DC6-B408-5F28779E23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10E08E-C48A-2F59-37DB-597DABD64E57}"/>
              </a:ext>
            </a:extLst>
          </p:cNvPr>
          <p:cNvSpPr>
            <a:spLocks noGrp="1"/>
          </p:cNvSpPr>
          <p:nvPr>
            <p:ph type="sldNum" sz="quarter" idx="5"/>
          </p:nvPr>
        </p:nvSpPr>
        <p:spPr/>
        <p:txBody>
          <a:bodyPr/>
          <a:lstStyle/>
          <a:p>
            <a:fld id="{EB2CEB64-3415-41E4-A4D1-0BFAE62DD19E}" type="slidenum">
              <a:rPr lang="en-AU" smtClean="0"/>
              <a:t>16</a:t>
            </a:fld>
            <a:endParaRPr lang="en-AU"/>
          </a:p>
        </p:txBody>
      </p:sp>
    </p:spTree>
    <p:extLst>
      <p:ext uri="{BB962C8B-B14F-4D97-AF65-F5344CB8AC3E}">
        <p14:creationId xmlns:p14="http://schemas.microsoft.com/office/powerpoint/2010/main" val="4284009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71E8-6339-5A71-D9E9-3D1307C50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79F29-0D4A-17E6-CFE2-E2FCA9EB0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0B565-6A1F-EAE1-FA69-4D8BEBE9E04A}"/>
              </a:ext>
            </a:extLst>
          </p:cNvPr>
          <p:cNvSpPr>
            <a:spLocks noGrp="1"/>
          </p:cNvSpPr>
          <p:nvPr>
            <p:ph type="body" idx="1"/>
          </p:nvPr>
        </p:nvSpPr>
        <p:spPr/>
        <p:txBody>
          <a:bodyPr/>
          <a:lstStyle/>
          <a:p>
            <a:r>
              <a:rPr lang="en-AU" sz="1200" b="0" i="0" u="sng" kern="1200" dirty="0">
                <a:solidFill>
                  <a:schemeClr val="tx1"/>
                </a:solidFill>
                <a:effectLst/>
                <a:latin typeface="+mn-lt"/>
                <a:ea typeface="+mn-ea"/>
                <a:cs typeface="+mn-cs"/>
                <a:hlinkClick r:id="rId3"/>
              </a:rPr>
              <a:t>Scales</a:t>
            </a:r>
            <a:r>
              <a:rPr lang="en-AU" sz="1200" b="0" i="0" u="none" strike="noStrike" kern="1200" dirty="0">
                <a:solidFill>
                  <a:schemeClr val="tx1"/>
                </a:solidFill>
                <a:effectLst/>
                <a:latin typeface="+mn-lt"/>
                <a:ea typeface="+mn-ea"/>
                <a:cs typeface="+mn-cs"/>
              </a:rPr>
              <a:t> are important for translating what is shown on the graph back to an understanding of the data. Scales are responsible for updating the limits of a plot, setting the breaks, formatting the labels, and possibly applying a transformation.</a:t>
            </a:r>
            <a:endParaRPr lang="en-US" dirty="0"/>
          </a:p>
        </p:txBody>
      </p:sp>
      <p:sp>
        <p:nvSpPr>
          <p:cNvPr id="4" name="Slide Number Placeholder 3">
            <a:extLst>
              <a:ext uri="{FF2B5EF4-FFF2-40B4-BE49-F238E27FC236}">
                <a16:creationId xmlns:a16="http://schemas.microsoft.com/office/drawing/2014/main" id="{E53BE1EE-AE1B-1AE1-9DD9-393656DD86B7}"/>
              </a:ext>
            </a:extLst>
          </p:cNvPr>
          <p:cNvSpPr>
            <a:spLocks noGrp="1"/>
          </p:cNvSpPr>
          <p:nvPr>
            <p:ph type="sldNum" sz="quarter" idx="5"/>
          </p:nvPr>
        </p:nvSpPr>
        <p:spPr/>
        <p:txBody>
          <a:bodyPr/>
          <a:lstStyle/>
          <a:p>
            <a:fld id="{EB2CEB64-3415-41E4-A4D1-0BFAE62DD19E}" type="slidenum">
              <a:rPr lang="en-AU" smtClean="0"/>
              <a:t>17</a:t>
            </a:fld>
            <a:endParaRPr lang="en-AU"/>
          </a:p>
        </p:txBody>
      </p:sp>
    </p:spTree>
    <p:extLst>
      <p:ext uri="{BB962C8B-B14F-4D97-AF65-F5344CB8AC3E}">
        <p14:creationId xmlns:p14="http://schemas.microsoft.com/office/powerpoint/2010/main" val="132921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3523A-D678-2A61-3233-9CDB9B9D0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7B3C9-ECE6-8697-2312-0A0BD2811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717AD2-E5A4-3A23-14C9-62EC6FDC003C}"/>
              </a:ext>
            </a:extLst>
          </p:cNvPr>
          <p:cNvSpPr>
            <a:spLocks noGrp="1"/>
          </p:cNvSpPr>
          <p:nvPr>
            <p:ph type="body" idx="1"/>
          </p:nvPr>
        </p:nvSpPr>
        <p:spPr/>
        <p:txBody>
          <a:bodyPr/>
          <a:lstStyle/>
          <a:p>
            <a:r>
              <a:rPr lang="en-AU" sz="1200" b="0" i="0" u="sng" kern="1200" dirty="0">
                <a:solidFill>
                  <a:schemeClr val="tx1"/>
                </a:solidFill>
                <a:effectLst/>
                <a:latin typeface="+mn-lt"/>
                <a:ea typeface="+mn-ea"/>
                <a:cs typeface="+mn-cs"/>
                <a:hlinkClick r:id="rId3"/>
              </a:rPr>
              <a:t>Facets</a:t>
            </a:r>
            <a:r>
              <a:rPr lang="en-AU" sz="1200" b="0" i="0" u="none" strike="noStrike" kern="1200" dirty="0">
                <a:solidFill>
                  <a:schemeClr val="tx1"/>
                </a:solidFill>
                <a:effectLst/>
                <a:latin typeface="+mn-lt"/>
                <a:ea typeface="+mn-ea"/>
                <a:cs typeface="+mn-cs"/>
              </a:rPr>
              <a:t> can be used to separate small multiples, or different subsets of the data. It is a powerful tool to quickly split up the data into smaller panels, based on one or more variables, to display patterns or trends (or the lack thereof) within the subsets.</a:t>
            </a:r>
            <a:endParaRPr lang="en-US" dirty="0"/>
          </a:p>
        </p:txBody>
      </p:sp>
      <p:sp>
        <p:nvSpPr>
          <p:cNvPr id="4" name="Slide Number Placeholder 3">
            <a:extLst>
              <a:ext uri="{FF2B5EF4-FFF2-40B4-BE49-F238E27FC236}">
                <a16:creationId xmlns:a16="http://schemas.microsoft.com/office/drawing/2014/main" id="{C2BAAFFC-6445-24E2-674B-803F0767B1B8}"/>
              </a:ext>
            </a:extLst>
          </p:cNvPr>
          <p:cNvSpPr>
            <a:spLocks noGrp="1"/>
          </p:cNvSpPr>
          <p:nvPr>
            <p:ph type="sldNum" sz="quarter" idx="5"/>
          </p:nvPr>
        </p:nvSpPr>
        <p:spPr/>
        <p:txBody>
          <a:bodyPr/>
          <a:lstStyle/>
          <a:p>
            <a:fld id="{EB2CEB64-3415-41E4-A4D1-0BFAE62DD19E}" type="slidenum">
              <a:rPr lang="en-AU" smtClean="0"/>
              <a:t>18</a:t>
            </a:fld>
            <a:endParaRPr lang="en-AU"/>
          </a:p>
        </p:txBody>
      </p:sp>
    </p:spTree>
    <p:extLst>
      <p:ext uri="{BB962C8B-B14F-4D97-AF65-F5344CB8AC3E}">
        <p14:creationId xmlns:p14="http://schemas.microsoft.com/office/powerpoint/2010/main" val="2289783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99867-D599-53A0-D367-19BD7EA7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EA7BC-CBB3-520F-6E48-F3EA929A6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A195F-A197-2847-9177-378B0F4BA9D2}"/>
              </a:ext>
            </a:extLst>
          </p:cNvPr>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You can view the </a:t>
            </a:r>
            <a:r>
              <a:rPr lang="en-AU" sz="1200" b="0" i="0" u="sng" kern="1200" dirty="0">
                <a:solidFill>
                  <a:schemeClr val="tx1"/>
                </a:solidFill>
                <a:effectLst/>
                <a:latin typeface="+mn-lt"/>
                <a:ea typeface="+mn-ea"/>
                <a:cs typeface="+mn-cs"/>
                <a:hlinkClick r:id="rId3"/>
              </a:rPr>
              <a:t>coordinates</a:t>
            </a:r>
            <a:r>
              <a:rPr lang="en-AU" sz="1200" b="0" i="0" u="none" strike="noStrike" kern="1200" dirty="0">
                <a:solidFill>
                  <a:schemeClr val="tx1"/>
                </a:solidFill>
                <a:effectLst/>
                <a:latin typeface="+mn-lt"/>
                <a:ea typeface="+mn-ea"/>
                <a:cs typeface="+mn-cs"/>
              </a:rPr>
              <a:t> part of the plot as an interpreter of position aesthetics. While typically Cartesian coordinates are used, the coordinate system powers the display of </a:t>
            </a:r>
            <a:r>
              <a:rPr lang="en-AU" sz="1200" b="0" i="0" u="sng" kern="1200" dirty="0">
                <a:solidFill>
                  <a:schemeClr val="tx1"/>
                </a:solidFill>
                <a:effectLst/>
                <a:latin typeface="+mn-lt"/>
                <a:ea typeface="+mn-ea"/>
                <a:cs typeface="+mn-cs"/>
                <a:hlinkClick r:id="rId4"/>
              </a:rPr>
              <a:t>map</a:t>
            </a:r>
            <a:r>
              <a:rPr lang="en-AU" sz="1200" b="0" i="0" u="sng" kern="1200" dirty="0">
                <a:solidFill>
                  <a:schemeClr val="tx1"/>
                </a:solidFill>
                <a:effectLst/>
                <a:latin typeface="+mn-lt"/>
                <a:ea typeface="+mn-ea"/>
                <a:cs typeface="+mn-cs"/>
              </a:rPr>
              <a:t> </a:t>
            </a:r>
            <a:r>
              <a:rPr lang="en-AU" sz="1200" b="0" i="0" u="none" strike="noStrike" kern="1200" dirty="0">
                <a:solidFill>
                  <a:schemeClr val="tx1"/>
                </a:solidFill>
                <a:effectLst/>
                <a:latin typeface="+mn-lt"/>
                <a:ea typeface="+mn-ea"/>
                <a:cs typeface="+mn-cs"/>
              </a:rPr>
              <a:t>projections and </a:t>
            </a:r>
            <a:r>
              <a:rPr lang="en-AU" sz="1200" b="0" i="0" u="sng" kern="1200" dirty="0">
                <a:solidFill>
                  <a:schemeClr val="tx1"/>
                </a:solidFill>
                <a:effectLst/>
                <a:latin typeface="+mn-lt"/>
                <a:ea typeface="+mn-ea"/>
                <a:cs typeface="+mn-cs"/>
                <a:hlinkClick r:id="rId5"/>
              </a:rPr>
              <a:t>polar</a:t>
            </a:r>
            <a:r>
              <a:rPr lang="en-AU" sz="1200" b="0" i="0" u="none" strike="noStrike" kern="1200" dirty="0">
                <a:solidFill>
                  <a:schemeClr val="tx1"/>
                </a:solidFill>
                <a:effectLst/>
                <a:latin typeface="+mn-lt"/>
                <a:ea typeface="+mn-ea"/>
                <a:cs typeface="+mn-cs"/>
              </a:rPr>
              <a:t> plots.</a:t>
            </a:r>
            <a:endParaRPr lang="en-US" dirty="0"/>
          </a:p>
        </p:txBody>
      </p:sp>
      <p:sp>
        <p:nvSpPr>
          <p:cNvPr id="4" name="Slide Number Placeholder 3">
            <a:extLst>
              <a:ext uri="{FF2B5EF4-FFF2-40B4-BE49-F238E27FC236}">
                <a16:creationId xmlns:a16="http://schemas.microsoft.com/office/drawing/2014/main" id="{4B83A85E-3DAB-D5C0-9C19-7322D7CFBF39}"/>
              </a:ext>
            </a:extLst>
          </p:cNvPr>
          <p:cNvSpPr>
            <a:spLocks noGrp="1"/>
          </p:cNvSpPr>
          <p:nvPr>
            <p:ph type="sldNum" sz="quarter" idx="5"/>
          </p:nvPr>
        </p:nvSpPr>
        <p:spPr/>
        <p:txBody>
          <a:bodyPr/>
          <a:lstStyle/>
          <a:p>
            <a:fld id="{EB2CEB64-3415-41E4-A4D1-0BFAE62DD19E}" type="slidenum">
              <a:rPr lang="en-AU" smtClean="0"/>
              <a:t>19</a:t>
            </a:fld>
            <a:endParaRPr lang="en-AU"/>
          </a:p>
        </p:txBody>
      </p:sp>
    </p:spTree>
    <p:extLst>
      <p:ext uri="{BB962C8B-B14F-4D97-AF65-F5344CB8AC3E}">
        <p14:creationId xmlns:p14="http://schemas.microsoft.com/office/powerpoint/2010/main" val="4270461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49F20-362C-D25A-BC00-02EE27223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3F4132-204B-D609-CA24-507054437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4130E-BAD8-0B1D-ECE2-8E72587697E6}"/>
              </a:ext>
            </a:extLst>
          </p:cNvPr>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The </a:t>
            </a:r>
            <a:r>
              <a:rPr lang="en-AU" sz="1200" b="0" i="0" u="sng" kern="1200" dirty="0">
                <a:solidFill>
                  <a:schemeClr val="tx1"/>
                </a:solidFill>
                <a:effectLst/>
                <a:latin typeface="+mn-lt"/>
                <a:ea typeface="+mn-ea"/>
                <a:cs typeface="+mn-cs"/>
                <a:hlinkClick r:id="rId3"/>
              </a:rPr>
              <a:t>theme</a:t>
            </a:r>
            <a:r>
              <a:rPr lang="en-AU" sz="1200" b="0" i="0" u="none" strike="noStrike" kern="1200" dirty="0">
                <a:solidFill>
                  <a:schemeClr val="tx1"/>
                </a:solidFill>
                <a:effectLst/>
                <a:latin typeface="+mn-lt"/>
                <a:ea typeface="+mn-ea"/>
                <a:cs typeface="+mn-cs"/>
              </a:rPr>
              <a:t> system controls almost any visuals of the plot that are not controlled by the data and is therefore important for the look and feel of the plot. You can use the theme for customizations ranging from changing the location of the legends to setting the background </a:t>
            </a:r>
            <a:r>
              <a:rPr lang="en-AU" sz="1200" b="0" i="0" u="none" strike="noStrike" kern="1200" dirty="0" err="1">
                <a:solidFill>
                  <a:schemeClr val="tx1"/>
                </a:solidFill>
                <a:effectLst/>
                <a:latin typeface="+mn-lt"/>
                <a:ea typeface="+mn-ea"/>
                <a:cs typeface="+mn-cs"/>
              </a:rPr>
              <a:t>color</a:t>
            </a:r>
            <a:r>
              <a:rPr lang="en-AU" sz="1200" b="0" i="0" u="none" strike="noStrike" kern="1200" dirty="0">
                <a:solidFill>
                  <a:schemeClr val="tx1"/>
                </a:solidFill>
                <a:effectLst/>
                <a:latin typeface="+mn-lt"/>
                <a:ea typeface="+mn-ea"/>
                <a:cs typeface="+mn-cs"/>
              </a:rPr>
              <a:t> of the plot. Many elements in the theme are hierarchical in that setting the look of the general axis line affects those of the x and y axes simultaneously.</a:t>
            </a:r>
            <a:endParaRPr lang="en-US" dirty="0"/>
          </a:p>
        </p:txBody>
      </p:sp>
      <p:sp>
        <p:nvSpPr>
          <p:cNvPr id="4" name="Slide Number Placeholder 3">
            <a:extLst>
              <a:ext uri="{FF2B5EF4-FFF2-40B4-BE49-F238E27FC236}">
                <a16:creationId xmlns:a16="http://schemas.microsoft.com/office/drawing/2014/main" id="{C264517D-D36A-C103-25B7-420FD4A6CE41}"/>
              </a:ext>
            </a:extLst>
          </p:cNvPr>
          <p:cNvSpPr>
            <a:spLocks noGrp="1"/>
          </p:cNvSpPr>
          <p:nvPr>
            <p:ph type="sldNum" sz="quarter" idx="5"/>
          </p:nvPr>
        </p:nvSpPr>
        <p:spPr/>
        <p:txBody>
          <a:bodyPr/>
          <a:lstStyle/>
          <a:p>
            <a:fld id="{EB2CEB64-3415-41E4-A4D1-0BFAE62DD19E}" type="slidenum">
              <a:rPr lang="en-AU" smtClean="0"/>
              <a:t>20</a:t>
            </a:fld>
            <a:endParaRPr lang="en-AU"/>
          </a:p>
        </p:txBody>
      </p:sp>
    </p:spTree>
    <p:extLst>
      <p:ext uri="{BB962C8B-B14F-4D97-AF65-F5344CB8AC3E}">
        <p14:creationId xmlns:p14="http://schemas.microsoft.com/office/powerpoint/2010/main" val="1731030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2CEB64-3415-41E4-A4D1-0BFAE62DD19E}" type="slidenum">
              <a:rPr lang="en-AU" smtClean="0"/>
              <a:t>21</a:t>
            </a:fld>
            <a:endParaRPr lang="en-AU"/>
          </a:p>
        </p:txBody>
      </p:sp>
    </p:spTree>
    <p:extLst>
      <p:ext uri="{BB962C8B-B14F-4D97-AF65-F5344CB8AC3E}">
        <p14:creationId xmlns:p14="http://schemas.microsoft.com/office/powerpoint/2010/main" val="21838054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We’re now reaching the </a:t>
            </a:r>
            <a:r>
              <a:rPr lang="en-US" err="1"/>
              <a:t>edn</a:t>
            </a:r>
            <a:r>
              <a:rPr lang="en-US"/>
              <a:t> of this workshop, we’d like to leave you with some useful resources: the ggplot2 </a:t>
            </a:r>
            <a:r>
              <a:rPr lang="en-US" err="1"/>
              <a:t>cheatsheet</a:t>
            </a:r>
            <a:r>
              <a:rPr lang="en-US"/>
              <a:t> – if you’re familiar with R packages, posit has made these </a:t>
            </a:r>
            <a:r>
              <a:rPr lang="en-US" err="1"/>
              <a:t>cheatsheets</a:t>
            </a:r>
            <a:r>
              <a:rPr lang="en-US"/>
              <a:t> for all </a:t>
            </a:r>
            <a:r>
              <a:rPr lang="en-US" err="1"/>
              <a:t>tidyverse</a:t>
            </a:r>
            <a:r>
              <a:rPr lang="en-US"/>
              <a:t> packages and they’re extremely helpful if you’ve ran out of credits when asking your favorite LLM. </a:t>
            </a:r>
            <a:r>
              <a:rPr lang="en-US" err="1"/>
              <a:t>Otehrwise</a:t>
            </a:r>
            <a:r>
              <a:rPr lang="en-US"/>
              <a:t> you can always look into this old technology called a book – I know gross -- and find even more info there.</a:t>
            </a:r>
          </a:p>
        </p:txBody>
      </p:sp>
      <p:sp>
        <p:nvSpPr>
          <p:cNvPr id="4" name="Slide Number Placeholder 3"/>
          <p:cNvSpPr>
            <a:spLocks noGrp="1"/>
          </p:cNvSpPr>
          <p:nvPr>
            <p:ph type="sldNum" sz="quarter" idx="5"/>
          </p:nvPr>
        </p:nvSpPr>
        <p:spPr/>
        <p:txBody>
          <a:bodyPr/>
          <a:lstStyle/>
          <a:p>
            <a:fld id="{EB2CEB64-3415-41E4-A4D1-0BFAE62DD19E}" type="slidenum">
              <a:rPr lang="en-AU" smtClean="0"/>
              <a:t>22</a:t>
            </a:fld>
            <a:endParaRPr lang="en-AU"/>
          </a:p>
        </p:txBody>
      </p:sp>
    </p:spTree>
    <p:extLst>
      <p:ext uri="{BB962C8B-B14F-4D97-AF65-F5344CB8AC3E}">
        <p14:creationId xmlns:p14="http://schemas.microsoft.com/office/powerpoint/2010/main" val="11814903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leave, I’ll ask one last thing of you, if you could take 2 min to complete this very short survey – only three questions, so we can sus out if you’d be keen to learn more.</a:t>
            </a:r>
          </a:p>
        </p:txBody>
      </p:sp>
      <p:sp>
        <p:nvSpPr>
          <p:cNvPr id="4" name="Slide Number Placeholder 3"/>
          <p:cNvSpPr>
            <a:spLocks noGrp="1"/>
          </p:cNvSpPr>
          <p:nvPr>
            <p:ph type="sldNum" sz="quarter" idx="5"/>
          </p:nvPr>
        </p:nvSpPr>
        <p:spPr/>
        <p:txBody>
          <a:bodyPr/>
          <a:lstStyle/>
          <a:p>
            <a:fld id="{EB2CEB64-3415-41E4-A4D1-0BFAE62DD19E}" type="slidenum">
              <a:rPr lang="en-AU" smtClean="0"/>
              <a:t>23</a:t>
            </a:fld>
            <a:endParaRPr lang="en-AU"/>
          </a:p>
        </p:txBody>
      </p:sp>
    </p:spTree>
    <p:extLst>
      <p:ext uri="{BB962C8B-B14F-4D97-AF65-F5344CB8AC3E}">
        <p14:creationId xmlns:p14="http://schemas.microsoft.com/office/powerpoint/2010/main" val="2746516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Thanks a lot!</a:t>
            </a:r>
          </a:p>
        </p:txBody>
      </p:sp>
      <p:sp>
        <p:nvSpPr>
          <p:cNvPr id="4" name="Slide Number Placeholder 3"/>
          <p:cNvSpPr>
            <a:spLocks noGrp="1"/>
          </p:cNvSpPr>
          <p:nvPr>
            <p:ph type="sldNum" sz="quarter" idx="5"/>
          </p:nvPr>
        </p:nvSpPr>
        <p:spPr/>
        <p:txBody>
          <a:bodyPr/>
          <a:lstStyle/>
          <a:p>
            <a:fld id="{EB2CEB64-3415-41E4-A4D1-0BFAE62DD19E}" type="slidenum">
              <a:rPr lang="en-AU" smtClean="0"/>
              <a:t>24</a:t>
            </a:fld>
            <a:endParaRPr lang="en-AU"/>
          </a:p>
        </p:txBody>
      </p:sp>
    </p:spTree>
    <p:extLst>
      <p:ext uri="{BB962C8B-B14F-4D97-AF65-F5344CB8AC3E}">
        <p14:creationId xmlns:p14="http://schemas.microsoft.com/office/powerpoint/2010/main" val="14889880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08973-C73C-A785-A86E-ED1A1D325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0243E-2DCE-BCCF-58F2-0CE330AFF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604202-921D-8B51-39D3-C6F196CD6097}"/>
              </a:ext>
            </a:extLst>
          </p:cNvPr>
          <p:cNvSpPr>
            <a:spLocks noGrp="1"/>
          </p:cNvSpPr>
          <p:nvPr>
            <p:ph type="body" idx="1"/>
          </p:nvPr>
        </p:nvSpPr>
        <p:spPr/>
        <p:txBody>
          <a:bodyPr/>
          <a:lstStyle/>
          <a:p>
            <a:r>
              <a:rPr lang="en-US"/>
              <a:t>REF SLIDE</a:t>
            </a:r>
          </a:p>
          <a:p>
            <a:endParaRPr lang="en-US"/>
          </a:p>
        </p:txBody>
      </p:sp>
      <p:sp>
        <p:nvSpPr>
          <p:cNvPr id="4" name="Slide Number Placeholder 3">
            <a:extLst>
              <a:ext uri="{FF2B5EF4-FFF2-40B4-BE49-F238E27FC236}">
                <a16:creationId xmlns:a16="http://schemas.microsoft.com/office/drawing/2014/main" id="{ED347942-0A4B-2FD5-E174-6AA9FDC68F24}"/>
              </a:ext>
            </a:extLst>
          </p:cNvPr>
          <p:cNvSpPr>
            <a:spLocks noGrp="1"/>
          </p:cNvSpPr>
          <p:nvPr>
            <p:ph type="sldNum" sz="quarter" idx="5"/>
          </p:nvPr>
        </p:nvSpPr>
        <p:spPr/>
        <p:txBody>
          <a:bodyPr/>
          <a:lstStyle/>
          <a:p>
            <a:fld id="{EB2CEB64-3415-41E4-A4D1-0BFAE62DD19E}" type="slidenum">
              <a:rPr lang="en-AU" smtClean="0"/>
              <a:t>25</a:t>
            </a:fld>
            <a:endParaRPr lang="en-AU"/>
          </a:p>
        </p:txBody>
      </p:sp>
    </p:spTree>
    <p:extLst>
      <p:ext uri="{BB962C8B-B14F-4D97-AF65-F5344CB8AC3E}">
        <p14:creationId xmlns:p14="http://schemas.microsoft.com/office/powerpoint/2010/main" val="3564347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1550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5.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3.png"/><Relationship Id="rId11" Type="http://schemas.openxmlformats.org/officeDocument/2006/relationships/image" Target="../media/image17.png"/><Relationship Id="rId5" Type="http://schemas.openxmlformats.org/officeDocument/2006/relationships/image" Target="../media/image12.png"/><Relationship Id="rId10" Type="http://schemas.openxmlformats.org/officeDocument/2006/relationships/image" Target="../media/image2.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0.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hyperlink" Target="https://github.com/erikgahner/awesome-ggplot2" TargetMode="Externa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22.jpeg"/><Relationship Id="rId5" Type="http://schemas.openxmlformats.org/officeDocument/2006/relationships/image" Target="../media/image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9.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10.xml"/><Relationship Id="rId7" Type="http://schemas.openxmlformats.org/officeDocument/2006/relationships/image" Target="../media/image31.jpe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2.png"/><Relationship Id="rId4" Type="http://schemas.openxmlformats.org/officeDocument/2006/relationships/image" Target="../media/image36.jpeg"/></Relationships>
</file>

<file path=ppt/slides/_rels/slide1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2.png"/><Relationship Id="rId4" Type="http://schemas.openxmlformats.org/officeDocument/2006/relationships/image" Target="../media/image39.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40.emf"/><Relationship Id="rId5" Type="http://schemas.openxmlformats.org/officeDocument/2006/relationships/image" Target="../media/image2.png"/><Relationship Id="rId4" Type="http://schemas.openxmlformats.org/officeDocument/2006/relationships/image" Target="../media/image39.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41.emf"/><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40.emf"/><Relationship Id="rId5" Type="http://schemas.openxmlformats.org/officeDocument/2006/relationships/image" Target="../media/image2.png"/><Relationship Id="rId4" Type="http://schemas.openxmlformats.org/officeDocument/2006/relationships/image" Target="../media/image39.emf"/></Relationships>
</file>

<file path=ppt/slides/_rels/slide17.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notesSlide" Target="../notesSlides/notesSlide17.xml"/><Relationship Id="rId7" Type="http://schemas.openxmlformats.org/officeDocument/2006/relationships/image" Target="../media/image41.emf"/><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40.emf"/><Relationship Id="rId5" Type="http://schemas.openxmlformats.org/officeDocument/2006/relationships/image" Target="../media/image2.png"/><Relationship Id="rId4" Type="http://schemas.openxmlformats.org/officeDocument/2006/relationships/image" Target="../media/image39.emf"/></Relationships>
</file>

<file path=ppt/slides/_rels/slide18.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notesSlide" Target="../notesSlides/notesSlide18.xml"/><Relationship Id="rId7" Type="http://schemas.openxmlformats.org/officeDocument/2006/relationships/image" Target="../media/image41.emf"/><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40.emf"/><Relationship Id="rId5" Type="http://schemas.openxmlformats.org/officeDocument/2006/relationships/image" Target="../media/image2.png"/><Relationship Id="rId4" Type="http://schemas.openxmlformats.org/officeDocument/2006/relationships/image" Target="../media/image39.emf"/><Relationship Id="rId9" Type="http://schemas.openxmlformats.org/officeDocument/2006/relationships/image" Target="../media/image43.emf"/></Relationships>
</file>

<file path=ppt/slides/_rels/slide19.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notesSlide" Target="../notesSlides/notesSlide19.xml"/><Relationship Id="rId7" Type="http://schemas.openxmlformats.org/officeDocument/2006/relationships/image" Target="../media/image41.emf"/><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40.emf"/><Relationship Id="rId5" Type="http://schemas.openxmlformats.org/officeDocument/2006/relationships/image" Target="../media/image2.png"/><Relationship Id="rId4" Type="http://schemas.openxmlformats.org/officeDocument/2006/relationships/image" Target="../media/image39.emf"/><Relationship Id="rId9" Type="http://schemas.openxmlformats.org/officeDocument/2006/relationships/image" Target="../media/image44.emf"/></Relationships>
</file>

<file path=ppt/slides/_rels/slide20.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notesSlide" Target="../notesSlides/notesSlide20.xml"/><Relationship Id="rId7" Type="http://schemas.openxmlformats.org/officeDocument/2006/relationships/image" Target="../media/image41.emf"/><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40.emf"/><Relationship Id="rId5" Type="http://schemas.openxmlformats.org/officeDocument/2006/relationships/image" Target="../media/image2.png"/><Relationship Id="rId10" Type="http://schemas.openxmlformats.org/officeDocument/2006/relationships/image" Target="../media/image37.emf"/><Relationship Id="rId4" Type="http://schemas.openxmlformats.org/officeDocument/2006/relationships/image" Target="../media/image39.emf"/><Relationship Id="rId9" Type="http://schemas.openxmlformats.org/officeDocument/2006/relationships/image" Target="../media/image44.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1.xml"/><Relationship Id="rId5" Type="http://schemas.openxmlformats.org/officeDocument/2006/relationships/image" Target="../media/image45.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49.png"/><Relationship Id="rId5" Type="http://schemas.openxmlformats.org/officeDocument/2006/relationships/image" Target="../media/image2.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4.xml"/><Relationship Id="rId5" Type="http://schemas.openxmlformats.org/officeDocument/2006/relationships/image" Target="../media/image2.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5.xml"/><Relationship Id="rId5" Type="http://schemas.openxmlformats.org/officeDocument/2006/relationships/image" Target="../media/image5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36B174F-C4EC-1885-CB50-036E083407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05292" y="1619164"/>
            <a:ext cx="9002204" cy="5609706"/>
          </a:xfrm>
          <a:prstGeom prst="rect">
            <a:avLst/>
          </a:prstGeom>
        </p:spPr>
      </p:pic>
      <p:pic>
        <p:nvPicPr>
          <p:cNvPr id="2" name="Image 0" descr="preencoded.png"/>
          <p:cNvPicPr>
            <a:picLocks noChangeAspect="1"/>
          </p:cNvPicPr>
          <p:nvPr>
            <p:custDataLst>
              <p:tags r:id="rId2"/>
            </p:custDataLst>
          </p:nvPr>
        </p:nvPicPr>
        <p:blipFill>
          <a:blip r:embed="rId6"/>
          <a:stretch>
            <a:fillRect/>
          </a:stretch>
        </p:blipFill>
        <p:spPr>
          <a:xfrm>
            <a:off x="11123149" y="5796335"/>
            <a:ext cx="858883" cy="858883"/>
          </a:xfrm>
          <a:prstGeom prst="rect">
            <a:avLst/>
          </a:prstGeom>
        </p:spPr>
      </p:pic>
      <p:sp>
        <p:nvSpPr>
          <p:cNvPr id="3" name="Text 0"/>
          <p:cNvSpPr/>
          <p:nvPr/>
        </p:nvSpPr>
        <p:spPr>
          <a:xfrm>
            <a:off x="2011623" y="2313879"/>
            <a:ext cx="7081130" cy="774755"/>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nSpc>
                <a:spcPct val="96985"/>
              </a:lnSpc>
            </a:pPr>
            <a:r>
              <a:rPr lang="en-US" sz="6600" b="1" err="1">
                <a:solidFill>
                  <a:srgbClr val="526001"/>
                </a:solidFill>
                <a:latin typeface="Ink Free" panose="03080402000500000000" pitchFamily="66" charset="0"/>
                <a:ea typeface="Roboto"/>
                <a:cs typeface="Roboto"/>
              </a:rPr>
              <a:t>Pretty_plots</a:t>
            </a:r>
            <a:r>
              <a:rPr lang="en-US" sz="6600" b="1">
                <a:solidFill>
                  <a:srgbClr val="526001"/>
                </a:solidFill>
                <a:latin typeface="Ink Free" panose="03080402000500000000" pitchFamily="66" charset="0"/>
                <a:ea typeface="Roboto"/>
                <a:cs typeface="Roboto"/>
              </a:rPr>
              <a:t>() </a:t>
            </a:r>
          </a:p>
          <a:p>
            <a:pPr>
              <a:lnSpc>
                <a:spcPct val="96985"/>
              </a:lnSpc>
            </a:pPr>
            <a:r>
              <a:rPr lang="en-US" sz="6600" b="1">
                <a:solidFill>
                  <a:srgbClr val="526001"/>
                </a:solidFill>
                <a:latin typeface="Ink Free" panose="03080402000500000000" pitchFamily="66" charset="0"/>
                <a:ea typeface="Roboto"/>
                <a:cs typeface="Roboto"/>
              </a:rPr>
              <a:t>with</a:t>
            </a:r>
          </a:p>
        </p:txBody>
      </p:sp>
      <p:sp>
        <p:nvSpPr>
          <p:cNvPr id="4" name="Text 1"/>
          <p:cNvSpPr/>
          <p:nvPr/>
        </p:nvSpPr>
        <p:spPr>
          <a:xfrm>
            <a:off x="209968" y="6024745"/>
            <a:ext cx="2209141" cy="630473"/>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nSpc>
                <a:spcPct val="96985"/>
              </a:lnSpc>
            </a:pPr>
            <a:r>
              <a:rPr lang="en-US" sz="1400">
                <a:solidFill>
                  <a:srgbClr val="000000"/>
                </a:solidFill>
                <a:latin typeface="Roboto" panose="02000000000000000000" pitchFamily="2" charset="0"/>
                <a:ea typeface="Roboto" panose="02000000000000000000" pitchFamily="2" charset="0"/>
                <a:cs typeface="Roboto" panose="02000000000000000000" pitchFamily="2" charset="0"/>
              </a:rPr>
              <a:t>Navya Shukla, PhD</a:t>
            </a:r>
          </a:p>
          <a:p>
            <a:pPr marL="0" indent="0">
              <a:lnSpc>
                <a:spcPct val="96985"/>
              </a:lnSpc>
              <a:buNone/>
            </a:pPr>
            <a:r>
              <a:rPr lang="en-US" sz="1400">
                <a:solidFill>
                  <a:srgbClr val="000000"/>
                </a:solidFill>
                <a:latin typeface="Roboto" panose="02000000000000000000" pitchFamily="2" charset="0"/>
                <a:ea typeface="Roboto" panose="02000000000000000000" pitchFamily="2" charset="0"/>
                <a:cs typeface="Roboto" panose="02000000000000000000" pitchFamily="2" charset="0"/>
              </a:rPr>
              <a:t>Anne-Lise Gérard, PhD</a:t>
            </a:r>
            <a:endParaRPr lang="en-US" sz="1400">
              <a:latin typeface="Roboto" panose="02000000000000000000" pitchFamily="2" charset="0"/>
              <a:ea typeface="Roboto" panose="02000000000000000000" pitchFamily="2" charset="0"/>
              <a:cs typeface="Roboto" panose="02000000000000000000" pitchFamily="2" charset="0"/>
            </a:endParaRPr>
          </a:p>
        </p:txBody>
      </p:sp>
      <p:sp>
        <p:nvSpPr>
          <p:cNvPr id="5" name="Text 2"/>
          <p:cNvSpPr/>
          <p:nvPr/>
        </p:nvSpPr>
        <p:spPr>
          <a:xfrm>
            <a:off x="209968" y="5084890"/>
            <a:ext cx="5886032" cy="939855"/>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nSpc>
                <a:spcPct val="96985"/>
              </a:lnSpc>
            </a:pPr>
            <a:r>
              <a:rPr lang="en-US" sz="2400" err="1">
                <a:solidFill>
                  <a:srgbClr val="526001"/>
                </a:solidFill>
                <a:latin typeface="Roboto"/>
                <a:ea typeface="Roboto"/>
                <a:cs typeface="Roboto"/>
              </a:rPr>
              <a:t>BioEdu</a:t>
            </a:r>
            <a:r>
              <a:rPr lang="en-US" sz="2400">
                <a:solidFill>
                  <a:srgbClr val="526001"/>
                </a:solidFill>
                <a:latin typeface="Roboto"/>
                <a:ea typeface="Roboto"/>
                <a:cs typeface="Roboto"/>
              </a:rPr>
              <a:t> workshop</a:t>
            </a:r>
            <a:endParaRPr lang="en-US" sz="2400">
              <a:solidFill>
                <a:srgbClr val="526001"/>
              </a:solidFill>
            </a:endParaRPr>
          </a:p>
          <a:p>
            <a:pPr marL="0" indent="0">
              <a:lnSpc>
                <a:spcPct val="96985"/>
              </a:lnSpc>
              <a:buNone/>
            </a:pPr>
            <a:r>
              <a:rPr lang="en-US" sz="2400">
                <a:solidFill>
                  <a:srgbClr val="526001"/>
                </a:solidFill>
                <a:latin typeface="Roboto"/>
                <a:ea typeface="Roboto"/>
                <a:cs typeface="Roboto"/>
              </a:rPr>
              <a:t>June 23</a:t>
            </a:r>
            <a:r>
              <a:rPr lang="en-US" sz="2400" baseline="30000">
                <a:solidFill>
                  <a:srgbClr val="526001"/>
                </a:solidFill>
                <a:latin typeface="Roboto"/>
                <a:ea typeface="Roboto"/>
                <a:cs typeface="Roboto"/>
              </a:rPr>
              <a:t>rd</a:t>
            </a:r>
            <a:r>
              <a:rPr lang="en-US" sz="2400">
                <a:solidFill>
                  <a:srgbClr val="526001"/>
                </a:solidFill>
                <a:latin typeface="Roboto"/>
                <a:ea typeface="Roboto"/>
                <a:cs typeface="Roboto"/>
              </a:rPr>
              <a:t>, 2026</a:t>
            </a:r>
          </a:p>
        </p:txBody>
      </p:sp>
    </p:spTree>
    <p:custDataLst>
      <p:tags r:id="rId1"/>
    </p:custDataLst>
    <p:extLst>
      <p:ext uri="{BB962C8B-B14F-4D97-AF65-F5344CB8AC3E}">
        <p14:creationId xmlns:p14="http://schemas.microsoft.com/office/powerpoint/2010/main" val="855449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DC2A3-EDFC-D1A4-A300-2408DC868FA7}"/>
            </a:ext>
          </a:extLst>
        </p:cNvPr>
        <p:cNvGrpSpPr/>
        <p:nvPr/>
      </p:nvGrpSpPr>
      <p:grpSpPr>
        <a:xfrm>
          <a:off x="0" y="0"/>
          <a:ext cx="0" cy="0"/>
          <a:chOff x="0" y="0"/>
          <a:chExt cx="0" cy="0"/>
        </a:xfrm>
      </p:grpSpPr>
      <p:pic>
        <p:nvPicPr>
          <p:cNvPr id="42" name="Picture 41">
            <a:extLst>
              <a:ext uri="{FF2B5EF4-FFF2-40B4-BE49-F238E27FC236}">
                <a16:creationId xmlns:a16="http://schemas.microsoft.com/office/drawing/2014/main" id="{B48337CC-7655-0454-69B0-31DCEB210FA3}"/>
              </a:ext>
            </a:extLst>
          </p:cNvPr>
          <p:cNvPicPr>
            <a:picLocks noChangeAspect="1"/>
          </p:cNvPicPr>
          <p:nvPr/>
        </p:nvPicPr>
        <p:blipFill>
          <a:blip r:embed="rId4">
            <a:alphaModFix/>
          </a:blip>
          <a:srcRect l="-2135" t="-560" r="2135" b="75079"/>
          <a:stretch>
            <a:fillRect/>
          </a:stretch>
        </p:blipFill>
        <p:spPr>
          <a:xfrm>
            <a:off x="4268587" y="1253329"/>
            <a:ext cx="9047565" cy="5424597"/>
          </a:xfrm>
          <a:prstGeom prst="rect">
            <a:avLst/>
          </a:prstGeom>
        </p:spPr>
      </p:pic>
      <p:sp>
        <p:nvSpPr>
          <p:cNvPr id="2" name="Title 1">
            <a:extLst>
              <a:ext uri="{FF2B5EF4-FFF2-40B4-BE49-F238E27FC236}">
                <a16:creationId xmlns:a16="http://schemas.microsoft.com/office/drawing/2014/main" id="{8CBADBA6-B123-49CC-1374-988C3404ED83}"/>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3" name="Content Placeholder 2">
            <a:extLst>
              <a:ext uri="{FF2B5EF4-FFF2-40B4-BE49-F238E27FC236}">
                <a16:creationId xmlns:a16="http://schemas.microsoft.com/office/drawing/2014/main" id="{AC42D4FE-B383-E0D5-57F9-AE723AEA5E63}"/>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pic>
        <p:nvPicPr>
          <p:cNvPr id="4" name="Image 0" descr="preencoded.png">
            <a:extLst>
              <a:ext uri="{FF2B5EF4-FFF2-40B4-BE49-F238E27FC236}">
                <a16:creationId xmlns:a16="http://schemas.microsoft.com/office/drawing/2014/main" id="{E089B85C-F18C-A1E4-67AE-A137EE1A927C}"/>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11" name="Rounded Rectangle 10">
            <a:extLst>
              <a:ext uri="{FF2B5EF4-FFF2-40B4-BE49-F238E27FC236}">
                <a16:creationId xmlns:a16="http://schemas.microsoft.com/office/drawing/2014/main" id="{FD717F60-FA6D-CABC-E74C-7C438A95DE26}"/>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a:solidFill>
                  <a:schemeClr val="bg1"/>
                </a:solidFill>
                <a:latin typeface="Ink Free" panose="03080402000500000000" pitchFamily="66" charset="0"/>
                <a:ea typeface="Roboto" panose="02000000000000000000" pitchFamily="2" charset="0"/>
                <a:cs typeface="Roboto" panose="02000000000000000000" pitchFamily="2" charset="0"/>
              </a:rPr>
              <a:t>simple</a:t>
            </a:r>
          </a:p>
        </p:txBody>
      </p:sp>
      <p:sp>
        <p:nvSpPr>
          <p:cNvPr id="23" name="Rectangle 1">
            <a:extLst>
              <a:ext uri="{FF2B5EF4-FFF2-40B4-BE49-F238E27FC236}">
                <a16:creationId xmlns:a16="http://schemas.microsoft.com/office/drawing/2014/main" id="{21C7361C-544B-C98A-7B3A-08E9A25DCA6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rgbClr val="FFFFFF"/>
                </a:solidFill>
                <a:effectLst/>
                <a:latin typeface="-apple-system"/>
              </a:rPr>
              <a:t>&lt;</a:t>
            </a:r>
            <a:r>
              <a:rPr kumimoji="0" lang="en-US" altLang="en-US" sz="1300" b="0" i="0" u="none" strike="noStrike" cap="none" normalizeH="0" baseline="0" err="1">
                <a:ln>
                  <a:noFill/>
                </a:ln>
                <a:solidFill>
                  <a:srgbClr val="FFFFFF"/>
                </a:solidFill>
                <a:effectLst/>
                <a:latin typeface="-apple-system"/>
              </a:rPr>
              <a:t>iframe</a:t>
            </a:r>
            <a:r>
              <a:rPr kumimoji="0" lang="en-US" altLang="en-US" sz="1300" b="0" i="0" u="none" strike="noStrike" cap="none" normalizeH="0" baseline="0">
                <a:ln>
                  <a:noFill/>
                </a:ln>
                <a:solidFill>
                  <a:srgbClr val="FFFFFF"/>
                </a:solidFill>
                <a:effectLst/>
                <a:latin typeface="-apple-system"/>
              </a:rPr>
              <a:t> </a:t>
            </a:r>
            <a:r>
              <a:rPr kumimoji="0" lang="en-US" altLang="en-US" sz="1300" b="0" i="0" u="none" strike="noStrike" cap="none" normalizeH="0" baseline="0" err="1">
                <a:ln>
                  <a:noFill/>
                </a:ln>
                <a:solidFill>
                  <a:srgbClr val="FFFFFF"/>
                </a:solidFill>
                <a:effectLst/>
                <a:latin typeface="-apple-system"/>
              </a:rPr>
              <a:t>src</a:t>
            </a:r>
            <a:r>
              <a:rPr kumimoji="0" lang="en-US" altLang="en-US" sz="1300" b="0" i="0" u="none" strike="noStrike" cap="none" normalizeH="0" baseline="0">
                <a:ln>
                  <a:noFill/>
                </a:ln>
                <a:solidFill>
                  <a:srgbClr val="FFFFFF"/>
                </a:solidFill>
                <a:effectLst/>
                <a:latin typeface="-apple-system"/>
              </a:rPr>
              <a:t>="https://</a:t>
            </a:r>
            <a:r>
              <a:rPr kumimoji="0" lang="en-US" altLang="en-US" sz="1300" b="0" i="0" u="none" strike="noStrike" cap="none" normalizeH="0" baseline="0" err="1">
                <a:ln>
                  <a:noFill/>
                </a:ln>
                <a:solidFill>
                  <a:srgbClr val="FFFFFF"/>
                </a:solidFill>
                <a:effectLst/>
                <a:latin typeface="-apple-system"/>
              </a:rPr>
              <a:t>carbon.now.sh</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embed?bg</a:t>
            </a:r>
            <a:r>
              <a:rPr kumimoji="0" lang="en-US" altLang="en-US" sz="1300" b="0" i="0" u="none" strike="noStrike" cap="none" normalizeH="0" baseline="0">
                <a:ln>
                  <a:noFill/>
                </a:ln>
                <a:solidFill>
                  <a:srgbClr val="FFFFFF"/>
                </a:solidFill>
                <a:effectLst/>
                <a:latin typeface="-apple-system"/>
              </a:rPr>
              <a:t>=rgba%28171%2C+184%2C+195%2C+1%29&amp;t=</a:t>
            </a:r>
            <a:r>
              <a:rPr kumimoji="0" lang="en-US" altLang="en-US" sz="1300" b="0" i="0" u="none" strike="noStrike" cap="none" normalizeH="0" baseline="0" err="1">
                <a:ln>
                  <a:noFill/>
                </a:ln>
                <a:solidFill>
                  <a:srgbClr val="FFFFFF"/>
                </a:solidFill>
                <a:effectLst/>
                <a:latin typeface="-apple-system"/>
              </a:rPr>
              <a:t>hopscotch&amp;wt</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none&amp;l</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r&amp;width</a:t>
            </a:r>
            <a:r>
              <a:rPr kumimoji="0" lang="en-US" altLang="en-US" sz="1300" b="0" i="0" u="none" strike="noStrike" cap="none" normalizeH="0" baseline="0">
                <a:ln>
                  <a:noFill/>
                </a:ln>
                <a:solidFill>
                  <a:srgbClr val="FFFFFF"/>
                </a:solidFill>
                <a:effectLst/>
                <a:latin typeface="-apple-system"/>
              </a:rPr>
              <a:t>=680&amp;ds=</a:t>
            </a:r>
            <a:r>
              <a:rPr kumimoji="0" lang="en-US" altLang="en-US" sz="1300" b="0" i="0" u="none" strike="noStrike" cap="none" normalizeH="0" baseline="0" err="1">
                <a:ln>
                  <a:noFill/>
                </a:ln>
                <a:solidFill>
                  <a:srgbClr val="FFFFFF"/>
                </a:solidFill>
                <a:effectLst/>
                <a:latin typeface="-apple-system"/>
              </a:rPr>
              <a:t>true&amp;dsyoff</a:t>
            </a:r>
            <a:r>
              <a:rPr kumimoji="0" lang="en-US" altLang="en-US" sz="1300" b="0" i="0" u="none" strike="noStrike" cap="none" normalizeH="0" baseline="0">
                <a:ln>
                  <a:noFill/>
                </a:ln>
                <a:solidFill>
                  <a:srgbClr val="FFFFFF"/>
                </a:solidFill>
                <a:effectLst/>
                <a:latin typeface="-apple-system"/>
              </a:rPr>
              <a:t>=20px&amp;dsblur=68px&amp;wc=</a:t>
            </a:r>
            <a:r>
              <a:rPr kumimoji="0" lang="en-US" altLang="en-US" sz="1300" b="0" i="0" u="none" strike="noStrike" cap="none" normalizeH="0" baseline="0" err="1">
                <a:ln>
                  <a:noFill/>
                </a:ln>
                <a:solidFill>
                  <a:srgbClr val="FFFFFF"/>
                </a:solidFill>
                <a:effectLst/>
                <a:latin typeface="-apple-system"/>
              </a:rPr>
              <a:t>true&amp;wa</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true&amp;pv</a:t>
            </a:r>
            <a:r>
              <a:rPr kumimoji="0" lang="en-US" altLang="en-US" sz="1300" b="0" i="0" u="none" strike="noStrike" cap="none" normalizeH="0" baseline="0">
                <a:ln>
                  <a:noFill/>
                </a:ln>
                <a:solidFill>
                  <a:srgbClr val="FFFFFF"/>
                </a:solidFill>
                <a:effectLst/>
                <a:latin typeface="-apple-system"/>
              </a:rPr>
              <a:t>=56px&amp;ph=56px&amp;ln=</a:t>
            </a:r>
            <a:r>
              <a:rPr kumimoji="0" lang="en-US" altLang="en-US" sz="1300" b="0" i="0" u="none" strike="noStrike" cap="none" normalizeH="0" baseline="0" err="1">
                <a:ln>
                  <a:noFill/>
                </a:ln>
                <a:solidFill>
                  <a:srgbClr val="FFFFFF"/>
                </a:solidFill>
                <a:effectLst/>
                <a:latin typeface="-apple-system"/>
              </a:rPr>
              <a:t>false&amp;fl</a:t>
            </a:r>
            <a:r>
              <a:rPr kumimoji="0" lang="en-US" altLang="en-US" sz="1300" b="0" i="0" u="none" strike="noStrike" cap="none" normalizeH="0" baseline="0">
                <a:ln>
                  <a:noFill/>
                </a:ln>
                <a:solidFill>
                  <a:srgbClr val="FFFFFF"/>
                </a:solidFill>
                <a:effectLst/>
                <a:latin typeface="-apple-system"/>
              </a:rPr>
              <a:t>=1&amp;fm=</a:t>
            </a:r>
            <a:r>
              <a:rPr kumimoji="0" lang="en-US" altLang="en-US" sz="1300" b="0" i="0" u="none" strike="noStrike" cap="none" normalizeH="0" baseline="0" err="1">
                <a:ln>
                  <a:noFill/>
                </a:ln>
                <a:solidFill>
                  <a:srgbClr val="FFFFFF"/>
                </a:solidFill>
                <a:effectLst/>
                <a:latin typeface="-apple-system"/>
              </a:rPr>
              <a:t>Hack&amp;fs</a:t>
            </a:r>
            <a:r>
              <a:rPr kumimoji="0" lang="en-US" altLang="en-US" sz="1300" b="0" i="0" u="none" strike="noStrike" cap="none" normalizeH="0" baseline="0">
                <a:ln>
                  <a:noFill/>
                </a:ln>
                <a:solidFill>
                  <a:srgbClr val="FFFFFF"/>
                </a:solidFill>
                <a:effectLst/>
                <a:latin typeface="-apple-system"/>
              </a:rPr>
              <a:t>=14px&amp;lh=133%25&amp;si=</a:t>
            </a:r>
            <a:r>
              <a:rPr kumimoji="0" lang="en-US" altLang="en-US" sz="1300" b="0" i="0" u="none" strike="noStrike" cap="none" normalizeH="0" baseline="0" err="1">
                <a:ln>
                  <a:noFill/>
                </a:ln>
                <a:solidFill>
                  <a:srgbClr val="FFFFFF"/>
                </a:solidFill>
                <a:effectLst/>
                <a:latin typeface="-apple-system"/>
              </a:rPr>
              <a:t>false&amp;es</a:t>
            </a:r>
            <a:r>
              <a:rPr kumimoji="0" lang="en-US" altLang="en-US" sz="1300" b="0" i="0" u="none" strike="noStrike" cap="none" normalizeH="0" baseline="0">
                <a:ln>
                  <a:noFill/>
                </a:ln>
                <a:solidFill>
                  <a:srgbClr val="FFFFFF"/>
                </a:solidFill>
                <a:effectLst/>
                <a:latin typeface="-apple-system"/>
              </a:rPr>
              <a:t>=2x&amp;wm=</a:t>
            </a:r>
            <a:r>
              <a:rPr kumimoji="0" lang="en-US" altLang="en-US" sz="1300" b="0" i="0" u="none" strike="noStrike" cap="none" normalizeH="0" baseline="0" err="1">
                <a:ln>
                  <a:noFill/>
                </a:ln>
                <a:solidFill>
                  <a:srgbClr val="FFFFFF"/>
                </a:solidFill>
                <a:effectLst/>
                <a:latin typeface="-apple-system"/>
              </a:rPr>
              <a:t>false&amp;code</a:t>
            </a:r>
            <a:r>
              <a:rPr kumimoji="0" lang="en-US" altLang="en-US" sz="1300" b="0" i="0" u="none" strike="noStrike" cap="none" normalizeH="0" baseline="0">
                <a:ln>
                  <a:noFill/>
                </a:ln>
                <a:solidFill>
                  <a:srgbClr val="FFFFFF"/>
                </a:solidFill>
                <a:effectLst/>
                <a:latin typeface="-apple-system"/>
              </a:rPr>
              <a:t>=ggplot%28dot_data%252C%2520aes%28x%2520%253D%2520gene%252C%2520y%2520%253D%2520category%29%29%2520%252B%250A%2520%2520geom_point%28aes%28size%2520%253D%2520pct_expressed%252C%2520color%2520%253D%2520avg_expression%29%29%2520%252B%250A%2520%2520scale_size_continuous%28range%2520%253D%2520c%281%252C%252010%29%252C%2520limits%2520%253D%2520c%280%252C%2520100%29%252C%2520name%2520%253D%2520%2522%2525%2520patients%2520expressed%2522%29%2520%252B%250A%2520%2520scale_color_gradient%28low%2520%2520%253D%2520%2522blue%2522%252C%2520high%2520%253D%2520%2522red%2522%252C%2520name%2520%253D%2520%2522Avg%2520log1p%28TPM%29%2522%29%2520%252B%250A%2520%2520labs%28x%2520%253D%2520NULL%252C%2520y%2520%253D%2520NULL%252C%2520title%2520%253D%2520%2522Gene%2520expression%2520in%2520ZERO2%2520patients%2522%29%2520%252B%250A%2520%2520theme_bw%28%29" style="width: 927px; height: 279px; border:0; transform: scale(1); </a:t>
            </a:r>
            <a:r>
              <a:rPr kumimoji="0" lang="en-US" altLang="en-US" sz="1300" b="0" i="0" u="none" strike="noStrike" cap="none" normalizeH="0" baseline="0" err="1">
                <a:ln>
                  <a:noFill/>
                </a:ln>
                <a:solidFill>
                  <a:srgbClr val="FFFFFF"/>
                </a:solidFill>
                <a:effectLst/>
                <a:latin typeface="-apple-system"/>
              </a:rPr>
              <a:t>overflow:hidden</a:t>
            </a:r>
            <a:r>
              <a:rPr kumimoji="0" lang="en-US" altLang="en-US" sz="1300" b="0" i="0" u="none" strike="noStrike" cap="none" normalizeH="0" baseline="0">
                <a:ln>
                  <a:noFill/>
                </a:ln>
                <a:solidFill>
                  <a:srgbClr val="FFFFFF"/>
                </a:solidFill>
                <a:effectLst/>
                <a:latin typeface="-apple-system"/>
              </a:rPr>
              <a:t>;" sandbox="allow-scripts allow-same-origin"&gt; &lt;/</a:t>
            </a:r>
            <a:r>
              <a:rPr kumimoji="0" lang="en-US" altLang="en-US" sz="1300" b="0" i="0" u="none" strike="noStrike" cap="none" normalizeH="0" baseline="0" err="1">
                <a:ln>
                  <a:noFill/>
                </a:ln>
                <a:solidFill>
                  <a:srgbClr val="FFFFFF"/>
                </a:solidFill>
                <a:effectLst/>
                <a:latin typeface="-apple-system"/>
              </a:rPr>
              <a:t>iframe</a:t>
            </a:r>
            <a:r>
              <a:rPr kumimoji="0" lang="en-US" altLang="en-US" sz="1300" b="0" i="0" u="none" strike="noStrike" cap="none" normalizeH="0" baseline="0">
                <a:ln>
                  <a:noFill/>
                </a:ln>
                <a:solidFill>
                  <a:srgbClr val="FFFFFF"/>
                </a:solidFill>
                <a:effectLst/>
                <a:latin typeface="-apple-system"/>
              </a:rPr>
              <a:t>&gt;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8" name="Picture 37">
            <a:extLst>
              <a:ext uri="{FF2B5EF4-FFF2-40B4-BE49-F238E27FC236}">
                <a16:creationId xmlns:a16="http://schemas.microsoft.com/office/drawing/2014/main" id="{CED098FB-7DF0-389C-3534-DA78DB310D8D}"/>
              </a:ext>
            </a:extLst>
          </p:cNvPr>
          <p:cNvPicPr>
            <a:picLocks noChangeAspect="1"/>
          </p:cNvPicPr>
          <p:nvPr/>
        </p:nvPicPr>
        <p:blipFill>
          <a:blip r:embed="rId6">
            <a:alphaModFix/>
            <a:extLst>
              <a:ext uri="{28A0092B-C50C-407E-A947-70E740481C1C}">
                <a14:useLocalDpi xmlns:a14="http://schemas.microsoft.com/office/drawing/2010/main" val="0"/>
              </a:ext>
            </a:extLst>
          </a:blip>
          <a:srcRect r="8307"/>
          <a:stretch>
            <a:fillRect/>
          </a:stretch>
        </p:blipFill>
        <p:spPr>
          <a:xfrm>
            <a:off x="-147481" y="1049838"/>
            <a:ext cx="5589635" cy="3867462"/>
          </a:xfrm>
          <a:prstGeom prst="rect">
            <a:avLst/>
          </a:prstGeom>
        </p:spPr>
      </p:pic>
      <p:pic>
        <p:nvPicPr>
          <p:cNvPr id="44" name="Picture 43">
            <a:extLst>
              <a:ext uri="{FF2B5EF4-FFF2-40B4-BE49-F238E27FC236}">
                <a16:creationId xmlns:a16="http://schemas.microsoft.com/office/drawing/2014/main" id="{BD42CE83-82DC-398E-75FB-7FCF7950B4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9360" y="4541520"/>
            <a:ext cx="3173721" cy="2113698"/>
          </a:xfrm>
          <a:prstGeom prst="rect">
            <a:avLst/>
          </a:prstGeom>
        </p:spPr>
      </p:pic>
    </p:spTree>
    <p:extLst>
      <p:ext uri="{BB962C8B-B14F-4D97-AF65-F5344CB8AC3E}">
        <p14:creationId xmlns:p14="http://schemas.microsoft.com/office/powerpoint/2010/main" val="3088225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4D40-A5CB-F53F-3445-5663886D5F2F}"/>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A222E071-E427-709E-EBE6-BC8512E1DC6C}"/>
              </a:ext>
            </a:extLst>
          </p:cNvPr>
          <p:cNvPicPr>
            <a:picLocks noChangeAspect="1"/>
          </p:cNvPicPr>
          <p:nvPr/>
        </p:nvPicPr>
        <p:blipFill>
          <a:blip r:embed="rId4">
            <a:alphaModFix/>
          </a:blip>
          <a:srcRect l="-2198" t="24083" r="2198" b="50436"/>
          <a:stretch>
            <a:fillRect/>
          </a:stretch>
        </p:blipFill>
        <p:spPr>
          <a:xfrm>
            <a:off x="4285138" y="1192368"/>
            <a:ext cx="9022834" cy="5409769"/>
          </a:xfrm>
          <a:prstGeom prst="rect">
            <a:avLst/>
          </a:prstGeom>
        </p:spPr>
      </p:pic>
      <p:pic>
        <p:nvPicPr>
          <p:cNvPr id="16" name="Picture 15">
            <a:extLst>
              <a:ext uri="{FF2B5EF4-FFF2-40B4-BE49-F238E27FC236}">
                <a16:creationId xmlns:a16="http://schemas.microsoft.com/office/drawing/2014/main" id="{8D9654A5-C26C-EDCA-D04D-9F61195C75EF}"/>
              </a:ext>
            </a:extLst>
          </p:cNvPr>
          <p:cNvPicPr>
            <a:picLocks noChangeAspect="1"/>
          </p:cNvPicPr>
          <p:nvPr/>
        </p:nvPicPr>
        <p:blipFill>
          <a:blip r:embed="rId5">
            <a:alphaModFix/>
            <a:extLst>
              <a:ext uri="{28A0092B-C50C-407E-A947-70E740481C1C}">
                <a14:useLocalDpi xmlns:a14="http://schemas.microsoft.com/office/drawing/2010/main" val="0"/>
              </a:ext>
            </a:extLst>
          </a:blip>
          <a:srcRect r="4394"/>
          <a:stretch>
            <a:fillRect/>
          </a:stretch>
        </p:blipFill>
        <p:spPr>
          <a:xfrm>
            <a:off x="-147480" y="1055610"/>
            <a:ext cx="5828190" cy="4586990"/>
          </a:xfrm>
          <a:prstGeom prst="rect">
            <a:avLst/>
          </a:prstGeom>
        </p:spPr>
      </p:pic>
      <p:sp>
        <p:nvSpPr>
          <p:cNvPr id="3" name="Content Placeholder 2">
            <a:extLst>
              <a:ext uri="{FF2B5EF4-FFF2-40B4-BE49-F238E27FC236}">
                <a16:creationId xmlns:a16="http://schemas.microsoft.com/office/drawing/2014/main" id="{F106D8B8-622E-AB03-C645-578278564200}"/>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pic>
        <p:nvPicPr>
          <p:cNvPr id="4" name="Image 0" descr="preencoded.png">
            <a:extLst>
              <a:ext uri="{FF2B5EF4-FFF2-40B4-BE49-F238E27FC236}">
                <a16:creationId xmlns:a16="http://schemas.microsoft.com/office/drawing/2014/main" id="{1F46B4C6-FD1A-A95F-7AB4-6D949064942C}"/>
              </a:ext>
            </a:extLst>
          </p:cNvPr>
          <p:cNvPicPr>
            <a:picLocks noChangeAspect="1"/>
          </p:cNvPicPr>
          <p:nvPr>
            <p:custDataLst>
              <p:tags r:id="rId1"/>
            </p:custDataLst>
          </p:nvPr>
        </p:nvPicPr>
        <p:blipFill>
          <a:blip r:embed="rId6"/>
          <a:stretch>
            <a:fillRect/>
          </a:stretch>
        </p:blipFill>
        <p:spPr>
          <a:xfrm>
            <a:off x="11123149" y="5796335"/>
            <a:ext cx="858883" cy="858883"/>
          </a:xfrm>
          <a:prstGeom prst="rect">
            <a:avLst/>
          </a:prstGeom>
        </p:spPr>
      </p:pic>
      <p:sp>
        <p:nvSpPr>
          <p:cNvPr id="8" name="Rounded Rectangle 7">
            <a:extLst>
              <a:ext uri="{FF2B5EF4-FFF2-40B4-BE49-F238E27FC236}">
                <a16:creationId xmlns:a16="http://schemas.microsoft.com/office/drawing/2014/main" id="{30DCEF03-0F26-C7B0-2ED9-D1112ECCF12A}"/>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a:latin typeface="Ink Free" panose="03080402000500000000" pitchFamily="66" charset="0"/>
                <a:ea typeface="Roboto" panose="02000000000000000000" pitchFamily="2" charset="0"/>
                <a:cs typeface="Roboto" panose="02000000000000000000" pitchFamily="2" charset="0"/>
              </a:rPr>
              <a:t>flexible</a:t>
            </a:r>
          </a:p>
        </p:txBody>
      </p:sp>
      <p:pic>
        <p:nvPicPr>
          <p:cNvPr id="22" name="Picture 21">
            <a:extLst>
              <a:ext uri="{FF2B5EF4-FFF2-40B4-BE49-F238E27FC236}">
                <a16:creationId xmlns:a16="http://schemas.microsoft.com/office/drawing/2014/main" id="{C64D6A72-8521-A599-5346-997B5AFCBF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53868" y="5232818"/>
            <a:ext cx="1422400" cy="1422400"/>
          </a:xfrm>
          <a:prstGeom prst="rect">
            <a:avLst/>
          </a:prstGeom>
        </p:spPr>
      </p:pic>
      <p:pic>
        <p:nvPicPr>
          <p:cNvPr id="24" name="Picture 23">
            <a:extLst>
              <a:ext uri="{FF2B5EF4-FFF2-40B4-BE49-F238E27FC236}">
                <a16:creationId xmlns:a16="http://schemas.microsoft.com/office/drawing/2014/main" id="{4DD78018-A0FC-E153-BD6A-3B8F60809A6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16395" y="5178211"/>
            <a:ext cx="1280716" cy="1484888"/>
          </a:xfrm>
          <a:prstGeom prst="rect">
            <a:avLst/>
          </a:prstGeom>
        </p:spPr>
      </p:pic>
      <p:sp>
        <p:nvSpPr>
          <p:cNvPr id="27" name="Title 1">
            <a:extLst>
              <a:ext uri="{FF2B5EF4-FFF2-40B4-BE49-F238E27FC236}">
                <a16:creationId xmlns:a16="http://schemas.microsoft.com/office/drawing/2014/main" id="{4BE8B5D0-6B55-B1D2-EE5E-50061A020F49}"/>
              </a:ext>
            </a:extLst>
          </p:cNvPr>
          <p:cNvSpPr txBox="1">
            <a:spLocks/>
          </p:cNvSpPr>
          <p:nvPr/>
        </p:nvSpPr>
        <p:spPr>
          <a:xfrm>
            <a:off x="244997" y="194900"/>
            <a:ext cx="11702005" cy="10435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ggplot?</a:t>
            </a:r>
          </a:p>
        </p:txBody>
      </p:sp>
    </p:spTree>
    <p:extLst>
      <p:ext uri="{BB962C8B-B14F-4D97-AF65-F5344CB8AC3E}">
        <p14:creationId xmlns:p14="http://schemas.microsoft.com/office/powerpoint/2010/main" val="514190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8105-E139-768C-4266-EAB873D551D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667892F0-2903-C915-5F34-099D80DE80BD}"/>
              </a:ext>
            </a:extLst>
          </p:cNvPr>
          <p:cNvPicPr>
            <a:picLocks noChangeAspect="1"/>
          </p:cNvPicPr>
          <p:nvPr/>
        </p:nvPicPr>
        <p:blipFill>
          <a:blip r:embed="rId4">
            <a:alphaModFix/>
          </a:blip>
          <a:srcRect l="-351" t="49513" r="351" b="25006"/>
          <a:stretch>
            <a:fillRect/>
          </a:stretch>
        </p:blipFill>
        <p:spPr>
          <a:xfrm>
            <a:off x="4140040" y="1271562"/>
            <a:ext cx="7873998" cy="4720968"/>
          </a:xfrm>
          <a:prstGeom prst="rect">
            <a:avLst/>
          </a:prstGeom>
        </p:spPr>
      </p:pic>
      <p:sp>
        <p:nvSpPr>
          <p:cNvPr id="3" name="Content Placeholder 2">
            <a:extLst>
              <a:ext uri="{FF2B5EF4-FFF2-40B4-BE49-F238E27FC236}">
                <a16:creationId xmlns:a16="http://schemas.microsoft.com/office/drawing/2014/main" id="{392BE7A5-23EE-4797-EB12-B33808432EA7}"/>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pic>
        <p:nvPicPr>
          <p:cNvPr id="4" name="Image 0" descr="preencoded.png">
            <a:extLst>
              <a:ext uri="{FF2B5EF4-FFF2-40B4-BE49-F238E27FC236}">
                <a16:creationId xmlns:a16="http://schemas.microsoft.com/office/drawing/2014/main" id="{3A3FE677-35C9-702F-C1FC-9E3E831A85B5}"/>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8" name="Rounded Rectangle 7">
            <a:extLst>
              <a:ext uri="{FF2B5EF4-FFF2-40B4-BE49-F238E27FC236}">
                <a16:creationId xmlns:a16="http://schemas.microsoft.com/office/drawing/2014/main" id="{93945BAC-BA3F-9D50-EC27-044254E9EC70}"/>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a:latin typeface="Ink Free" panose="03080402000500000000" pitchFamily="66" charset="0"/>
                <a:ea typeface="Roboto" panose="02000000000000000000" pitchFamily="2" charset="0"/>
                <a:cs typeface="Roboto" panose="02000000000000000000" pitchFamily="2" charset="0"/>
              </a:rPr>
              <a:t>flexible</a:t>
            </a:r>
          </a:p>
        </p:txBody>
      </p:sp>
      <p:pic>
        <p:nvPicPr>
          <p:cNvPr id="10" name="Picture 9">
            <a:extLst>
              <a:ext uri="{FF2B5EF4-FFF2-40B4-BE49-F238E27FC236}">
                <a16:creationId xmlns:a16="http://schemas.microsoft.com/office/drawing/2014/main" id="{7A08BFA9-141F-602D-FAE7-69A73086EB50}"/>
              </a:ext>
            </a:extLst>
          </p:cNvPr>
          <p:cNvPicPr>
            <a:picLocks noChangeAspect="1"/>
          </p:cNvPicPr>
          <p:nvPr/>
        </p:nvPicPr>
        <p:blipFill>
          <a:blip r:embed="rId6">
            <a:alphaModFix/>
            <a:extLst>
              <a:ext uri="{28A0092B-C50C-407E-A947-70E740481C1C}">
                <a14:useLocalDpi xmlns:a14="http://schemas.microsoft.com/office/drawing/2010/main" val="0"/>
              </a:ext>
            </a:extLst>
          </a:blip>
          <a:srcRect r="8500"/>
          <a:stretch>
            <a:fillRect/>
          </a:stretch>
        </p:blipFill>
        <p:spPr>
          <a:xfrm>
            <a:off x="-147480" y="1058080"/>
            <a:ext cx="5577840" cy="3867462"/>
          </a:xfrm>
          <a:prstGeom prst="rect">
            <a:avLst/>
          </a:prstGeom>
        </p:spPr>
      </p:pic>
      <p:pic>
        <p:nvPicPr>
          <p:cNvPr id="20" name="Picture 19">
            <a:extLst>
              <a:ext uri="{FF2B5EF4-FFF2-40B4-BE49-F238E27FC236}">
                <a16:creationId xmlns:a16="http://schemas.microsoft.com/office/drawing/2014/main" id="{F9342975-EBED-0E64-2566-09E9C718C6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65781" y="4396967"/>
            <a:ext cx="3253820" cy="1926907"/>
          </a:xfrm>
          <a:prstGeom prst="rect">
            <a:avLst/>
          </a:prstGeom>
        </p:spPr>
      </p:pic>
      <p:sp>
        <p:nvSpPr>
          <p:cNvPr id="24" name="Title 1">
            <a:extLst>
              <a:ext uri="{FF2B5EF4-FFF2-40B4-BE49-F238E27FC236}">
                <a16:creationId xmlns:a16="http://schemas.microsoft.com/office/drawing/2014/main" id="{C1D1F3A5-94BD-9119-858F-BC642BB7F4A2}"/>
              </a:ext>
            </a:extLst>
          </p:cNvPr>
          <p:cNvSpPr txBox="1">
            <a:spLocks/>
          </p:cNvSpPr>
          <p:nvPr/>
        </p:nvSpPr>
        <p:spPr>
          <a:xfrm>
            <a:off x="244997" y="194900"/>
            <a:ext cx="11702005" cy="10435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ggplot?</a:t>
            </a:r>
          </a:p>
        </p:txBody>
      </p:sp>
    </p:spTree>
    <p:extLst>
      <p:ext uri="{BB962C8B-B14F-4D97-AF65-F5344CB8AC3E}">
        <p14:creationId xmlns:p14="http://schemas.microsoft.com/office/powerpoint/2010/main" val="292952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F6EA2-FB08-A414-3358-9D5FE1FCC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2768A-58B2-124B-4DAA-4215ABC551C2}"/>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3" name="Content Placeholder 2">
            <a:extLst>
              <a:ext uri="{FF2B5EF4-FFF2-40B4-BE49-F238E27FC236}">
                <a16:creationId xmlns:a16="http://schemas.microsoft.com/office/drawing/2014/main" id="{9F5E0869-4F69-0370-2CC9-20C3362F237D}"/>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pic>
        <p:nvPicPr>
          <p:cNvPr id="6" name="Picture 5">
            <a:extLst>
              <a:ext uri="{FF2B5EF4-FFF2-40B4-BE49-F238E27FC236}">
                <a16:creationId xmlns:a16="http://schemas.microsoft.com/office/drawing/2014/main" id="{CA22C9BA-0FC9-5FE7-3A87-C5F69411716B}"/>
              </a:ext>
            </a:extLst>
          </p:cNvPr>
          <p:cNvPicPr>
            <a:picLocks noChangeAspect="1"/>
          </p:cNvPicPr>
          <p:nvPr/>
        </p:nvPicPr>
        <p:blipFill>
          <a:blip r:embed="rId4">
            <a:extLst>
              <a:ext uri="{28A0092B-C50C-407E-A947-70E740481C1C}">
                <a14:useLocalDpi xmlns:a14="http://schemas.microsoft.com/office/drawing/2010/main" val="0"/>
              </a:ext>
            </a:extLst>
          </a:blip>
          <a:srcRect t="36813"/>
          <a:stretch>
            <a:fillRect/>
          </a:stretch>
        </p:blipFill>
        <p:spPr>
          <a:xfrm>
            <a:off x="273125" y="2972811"/>
            <a:ext cx="3752431" cy="3148540"/>
          </a:xfrm>
          <a:prstGeom prst="rect">
            <a:avLst/>
          </a:prstGeom>
        </p:spPr>
      </p:pic>
      <p:pic>
        <p:nvPicPr>
          <p:cNvPr id="16" name="Picture 15">
            <a:extLst>
              <a:ext uri="{FF2B5EF4-FFF2-40B4-BE49-F238E27FC236}">
                <a16:creationId xmlns:a16="http://schemas.microsoft.com/office/drawing/2014/main" id="{D73BFA8C-8C51-7AD2-C0F7-BEA8164AC259}"/>
              </a:ext>
            </a:extLst>
          </p:cNvPr>
          <p:cNvPicPr>
            <a:picLocks noChangeAspect="1"/>
          </p:cNvPicPr>
          <p:nvPr/>
        </p:nvPicPr>
        <p:blipFill>
          <a:blip r:embed="rId5">
            <a:extLst>
              <a:ext uri="{28A0092B-C50C-407E-A947-70E740481C1C}">
                <a14:useLocalDpi xmlns:a14="http://schemas.microsoft.com/office/drawing/2010/main" val="0"/>
              </a:ext>
            </a:extLst>
          </a:blip>
          <a:srcRect l="6897" t="51432" r="8457"/>
          <a:stretch>
            <a:fillRect/>
          </a:stretch>
        </p:blipFill>
        <p:spPr>
          <a:xfrm>
            <a:off x="3969300" y="2987650"/>
            <a:ext cx="4197146" cy="3148540"/>
          </a:xfrm>
          <a:prstGeom prst="rect">
            <a:avLst/>
          </a:prstGeom>
        </p:spPr>
      </p:pic>
      <p:pic>
        <p:nvPicPr>
          <p:cNvPr id="18" name="Picture 17">
            <a:extLst>
              <a:ext uri="{FF2B5EF4-FFF2-40B4-BE49-F238E27FC236}">
                <a16:creationId xmlns:a16="http://schemas.microsoft.com/office/drawing/2014/main" id="{40215D51-ECFD-1CDF-8E59-FC1A234101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00204" y="1307804"/>
            <a:ext cx="3941168" cy="2308547"/>
          </a:xfrm>
          <a:prstGeom prst="rect">
            <a:avLst/>
          </a:prstGeom>
        </p:spPr>
      </p:pic>
      <p:pic>
        <p:nvPicPr>
          <p:cNvPr id="21" name="Picture 20">
            <a:extLst>
              <a:ext uri="{FF2B5EF4-FFF2-40B4-BE49-F238E27FC236}">
                <a16:creationId xmlns:a16="http://schemas.microsoft.com/office/drawing/2014/main" id="{7EBF32F8-CE15-F2B3-0151-84E13D43A0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53686" y="1307804"/>
            <a:ext cx="3721100" cy="1447800"/>
          </a:xfrm>
          <a:prstGeom prst="rect">
            <a:avLst/>
          </a:prstGeom>
        </p:spPr>
      </p:pic>
      <p:pic>
        <p:nvPicPr>
          <p:cNvPr id="23" name="Picture 22">
            <a:extLst>
              <a:ext uri="{FF2B5EF4-FFF2-40B4-BE49-F238E27FC236}">
                <a16:creationId xmlns:a16="http://schemas.microsoft.com/office/drawing/2014/main" id="{4E0321B5-9585-F042-7BBB-F91D2E6562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3289" y="1421451"/>
            <a:ext cx="3632105" cy="1021798"/>
          </a:xfrm>
          <a:prstGeom prst="rect">
            <a:avLst/>
          </a:prstGeom>
        </p:spPr>
      </p:pic>
      <p:pic>
        <p:nvPicPr>
          <p:cNvPr id="25" name="Picture 24">
            <a:extLst>
              <a:ext uri="{FF2B5EF4-FFF2-40B4-BE49-F238E27FC236}">
                <a16:creationId xmlns:a16="http://schemas.microsoft.com/office/drawing/2014/main" id="{B76C4BBB-80E1-446F-44D8-D0840898612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66446" y="3644887"/>
            <a:ext cx="3423422" cy="2506142"/>
          </a:xfrm>
          <a:prstGeom prst="rect">
            <a:avLst/>
          </a:prstGeom>
        </p:spPr>
      </p:pic>
      <p:pic>
        <p:nvPicPr>
          <p:cNvPr id="4" name="Image 0" descr="preencoded.png">
            <a:extLst>
              <a:ext uri="{FF2B5EF4-FFF2-40B4-BE49-F238E27FC236}">
                <a16:creationId xmlns:a16="http://schemas.microsoft.com/office/drawing/2014/main" id="{113CC745-D0B6-F47C-7EA5-460B39E9A3DC}"/>
              </a:ext>
            </a:extLst>
          </p:cNvPr>
          <p:cNvPicPr>
            <a:picLocks noChangeAspect="1"/>
          </p:cNvPicPr>
          <p:nvPr>
            <p:custDataLst>
              <p:tags r:id="rId1"/>
            </p:custDataLst>
          </p:nvPr>
        </p:nvPicPr>
        <p:blipFill>
          <a:blip r:embed="rId10"/>
          <a:stretch>
            <a:fillRect/>
          </a:stretch>
        </p:blipFill>
        <p:spPr>
          <a:xfrm>
            <a:off x="11123149" y="5796335"/>
            <a:ext cx="858883" cy="858883"/>
          </a:xfrm>
          <a:prstGeom prst="rect">
            <a:avLst/>
          </a:prstGeom>
        </p:spPr>
      </p:pic>
      <p:pic>
        <p:nvPicPr>
          <p:cNvPr id="27" name="Picture 26">
            <a:extLst>
              <a:ext uri="{FF2B5EF4-FFF2-40B4-BE49-F238E27FC236}">
                <a16:creationId xmlns:a16="http://schemas.microsoft.com/office/drawing/2014/main" id="{5A3D47D7-6C85-2175-43D7-AFEFBCA32B1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653461" y="3821626"/>
            <a:ext cx="1054644" cy="1054644"/>
          </a:xfrm>
          <a:prstGeom prst="rect">
            <a:avLst/>
          </a:prstGeom>
        </p:spPr>
      </p:pic>
      <p:sp>
        <p:nvSpPr>
          <p:cNvPr id="28" name="Rounded Rectangle 27">
            <a:extLst>
              <a:ext uri="{FF2B5EF4-FFF2-40B4-BE49-F238E27FC236}">
                <a16:creationId xmlns:a16="http://schemas.microsoft.com/office/drawing/2014/main" id="{30740EE2-C7EB-C89F-B4D0-4904DBD954F8}"/>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a:latin typeface="Ink Free" panose="03080402000500000000" pitchFamily="66" charset="0"/>
                <a:ea typeface="Roboto" panose="02000000000000000000" pitchFamily="2" charset="0"/>
                <a:cs typeface="Roboto" panose="02000000000000000000" pitchFamily="2" charset="0"/>
              </a:rPr>
              <a:t>flexible</a:t>
            </a:r>
          </a:p>
        </p:txBody>
      </p:sp>
    </p:spTree>
    <p:extLst>
      <p:ext uri="{BB962C8B-B14F-4D97-AF65-F5344CB8AC3E}">
        <p14:creationId xmlns:p14="http://schemas.microsoft.com/office/powerpoint/2010/main" val="301522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EABA6-0DA9-261C-AE5A-7A895043A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C7688-C0B2-C99D-BADA-71504DBDD0C8}"/>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3" name="Content Placeholder 2">
            <a:extLst>
              <a:ext uri="{FF2B5EF4-FFF2-40B4-BE49-F238E27FC236}">
                <a16:creationId xmlns:a16="http://schemas.microsoft.com/office/drawing/2014/main" id="{6D055DB5-3718-8EE1-7553-583E97087C6A}"/>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 name="Rounded Rectangle 8">
            <a:extLst>
              <a:ext uri="{FF2B5EF4-FFF2-40B4-BE49-F238E27FC236}">
                <a16:creationId xmlns:a16="http://schemas.microsoft.com/office/drawing/2014/main" id="{58376772-FA72-C4C4-DC69-CAE6ECECEB83}"/>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a:latin typeface="Ink Free" panose="03080402000500000000" pitchFamily="66" charset="0"/>
                <a:ea typeface="Roboto" panose="02000000000000000000" pitchFamily="2" charset="0"/>
                <a:cs typeface="Roboto" panose="02000000000000000000" pitchFamily="2" charset="0"/>
              </a:rPr>
              <a:t>reproducible</a:t>
            </a:r>
          </a:p>
        </p:txBody>
      </p:sp>
      <p:pic>
        <p:nvPicPr>
          <p:cNvPr id="11" name="Picture 10">
            <a:extLst>
              <a:ext uri="{FF2B5EF4-FFF2-40B4-BE49-F238E27FC236}">
                <a16:creationId xmlns:a16="http://schemas.microsoft.com/office/drawing/2014/main" id="{D2E2120C-7F32-2351-E363-ACB193555518}"/>
              </a:ext>
            </a:extLst>
          </p:cNvPr>
          <p:cNvPicPr>
            <a:picLocks noChangeAspect="1"/>
          </p:cNvPicPr>
          <p:nvPr/>
        </p:nvPicPr>
        <p:blipFill>
          <a:blip r:embed="rId4"/>
          <a:srcRect t="74519"/>
          <a:stretch>
            <a:fillRect/>
          </a:stretch>
        </p:blipFill>
        <p:spPr>
          <a:xfrm>
            <a:off x="4170522" y="1271562"/>
            <a:ext cx="7873998" cy="4720968"/>
          </a:xfrm>
          <a:prstGeom prst="rect">
            <a:avLst/>
          </a:prstGeom>
        </p:spPr>
      </p:pic>
      <p:pic>
        <p:nvPicPr>
          <p:cNvPr id="10" name="Picture 9">
            <a:extLst>
              <a:ext uri="{FF2B5EF4-FFF2-40B4-BE49-F238E27FC236}">
                <a16:creationId xmlns:a16="http://schemas.microsoft.com/office/drawing/2014/main" id="{3A81C678-9758-A77A-E79E-62202501D9AA}"/>
              </a:ext>
            </a:extLst>
          </p:cNvPr>
          <p:cNvPicPr>
            <a:picLocks noChangeAspect="1"/>
          </p:cNvPicPr>
          <p:nvPr/>
        </p:nvPicPr>
        <p:blipFill>
          <a:blip r:embed="rId5">
            <a:alphaModFix/>
            <a:extLst>
              <a:ext uri="{28A0092B-C50C-407E-A947-70E740481C1C}">
                <a14:useLocalDpi xmlns:a14="http://schemas.microsoft.com/office/drawing/2010/main" val="0"/>
              </a:ext>
            </a:extLst>
          </a:blip>
          <a:srcRect r="8166"/>
          <a:stretch>
            <a:fillRect/>
          </a:stretch>
        </p:blipFill>
        <p:spPr>
          <a:xfrm>
            <a:off x="-147480" y="1068070"/>
            <a:ext cx="5598160" cy="4186052"/>
          </a:xfrm>
          <a:prstGeom prst="rect">
            <a:avLst/>
          </a:prstGeom>
        </p:spPr>
      </p:pic>
      <p:pic>
        <p:nvPicPr>
          <p:cNvPr id="12" name="Picture 11">
            <a:extLst>
              <a:ext uri="{FF2B5EF4-FFF2-40B4-BE49-F238E27FC236}">
                <a16:creationId xmlns:a16="http://schemas.microsoft.com/office/drawing/2014/main" id="{94D525FE-6579-1ECB-43A2-965502F182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316480" y="4412067"/>
            <a:ext cx="2572608" cy="2251032"/>
          </a:xfrm>
          <a:prstGeom prst="rect">
            <a:avLst/>
          </a:prstGeom>
        </p:spPr>
      </p:pic>
      <p:pic>
        <p:nvPicPr>
          <p:cNvPr id="14" name="Image 0" descr="preencoded.png">
            <a:extLst>
              <a:ext uri="{FF2B5EF4-FFF2-40B4-BE49-F238E27FC236}">
                <a16:creationId xmlns:a16="http://schemas.microsoft.com/office/drawing/2014/main" id="{F82EB6A8-07C8-6B8C-0B01-CDAC129D0C0A}"/>
              </a:ext>
            </a:extLst>
          </p:cNvPr>
          <p:cNvPicPr>
            <a:picLocks noChangeAspect="1"/>
          </p:cNvPicPr>
          <p:nvPr>
            <p:custDataLst>
              <p:tags r:id="rId1"/>
            </p:custDataLst>
          </p:nvPr>
        </p:nvPicPr>
        <p:blipFill>
          <a:blip r:embed="rId7"/>
          <a:stretch>
            <a:fillRect/>
          </a:stretch>
        </p:blipFill>
        <p:spPr>
          <a:xfrm>
            <a:off x="11123149" y="5796335"/>
            <a:ext cx="858883" cy="858883"/>
          </a:xfrm>
          <a:prstGeom prst="rect">
            <a:avLst/>
          </a:prstGeom>
        </p:spPr>
      </p:pic>
    </p:spTree>
    <p:extLst>
      <p:ext uri="{BB962C8B-B14F-4D97-AF65-F5344CB8AC3E}">
        <p14:creationId xmlns:p14="http://schemas.microsoft.com/office/powerpoint/2010/main" val="3360504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CC0EF-E57B-CC1F-6706-DE02DE478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CF69E-DBC9-F17C-88F1-D19CCAFE7AFA}"/>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3" name="Content Placeholder 2">
            <a:extLst>
              <a:ext uri="{FF2B5EF4-FFF2-40B4-BE49-F238E27FC236}">
                <a16:creationId xmlns:a16="http://schemas.microsoft.com/office/drawing/2014/main" id="{75753FAB-7880-5AEE-6F87-E1B9631965F3}"/>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0" indent="0">
              <a:buNone/>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9" name="Rounded Rectangle 8">
            <a:extLst>
              <a:ext uri="{FF2B5EF4-FFF2-40B4-BE49-F238E27FC236}">
                <a16:creationId xmlns:a16="http://schemas.microsoft.com/office/drawing/2014/main" id="{A29928D2-54A9-8E46-1F17-52085E7CF9A4}"/>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err="1">
                <a:latin typeface="Ink Free" panose="03080402000500000000" pitchFamily="66" charset="0"/>
                <a:ea typeface="Roboto" panose="02000000000000000000" pitchFamily="2" charset="0"/>
                <a:cs typeface="Roboto" panose="02000000000000000000" pitchFamily="2" charset="0"/>
              </a:rPr>
              <a:t>gguniverse</a:t>
            </a:r>
            <a:endParaRPr lang="en-US" sz="4000" b="1">
              <a:latin typeface="Ink Free" panose="03080402000500000000" pitchFamily="66" charset="0"/>
              <a:ea typeface="Roboto" panose="02000000000000000000" pitchFamily="2" charset="0"/>
              <a:cs typeface="Roboto" panose="02000000000000000000" pitchFamily="2" charset="0"/>
            </a:endParaRPr>
          </a:p>
        </p:txBody>
      </p:sp>
      <p:pic>
        <p:nvPicPr>
          <p:cNvPr id="14" name="Image 0" descr="preencoded.png">
            <a:extLst>
              <a:ext uri="{FF2B5EF4-FFF2-40B4-BE49-F238E27FC236}">
                <a16:creationId xmlns:a16="http://schemas.microsoft.com/office/drawing/2014/main" id="{4561C101-D1A5-A878-DAE2-0C56EDCFCA61}"/>
              </a:ext>
            </a:extLst>
          </p:cNvPr>
          <p:cNvPicPr>
            <a:picLocks noChangeAspect="1"/>
          </p:cNvPicPr>
          <p:nvPr>
            <p:custDataLst>
              <p:tags r:id="rId1"/>
            </p:custDataLst>
          </p:nvPr>
        </p:nvPicPr>
        <p:blipFill>
          <a:blip r:embed="rId4"/>
          <a:stretch>
            <a:fillRect/>
          </a:stretch>
        </p:blipFill>
        <p:spPr>
          <a:xfrm>
            <a:off x="11123149" y="5796335"/>
            <a:ext cx="858883" cy="858883"/>
          </a:xfrm>
          <a:prstGeom prst="rect">
            <a:avLst/>
          </a:prstGeom>
        </p:spPr>
      </p:pic>
      <p:pic>
        <p:nvPicPr>
          <p:cNvPr id="5" name="Picture 4">
            <a:extLst>
              <a:ext uri="{FF2B5EF4-FFF2-40B4-BE49-F238E27FC236}">
                <a16:creationId xmlns:a16="http://schemas.microsoft.com/office/drawing/2014/main" id="{D8366497-5E59-5F76-3216-0645891C63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2758" y="1222270"/>
            <a:ext cx="9404350" cy="5237339"/>
          </a:xfrm>
          <a:prstGeom prst="rect">
            <a:avLst/>
          </a:prstGeom>
        </p:spPr>
      </p:pic>
    </p:spTree>
    <p:extLst>
      <p:ext uri="{BB962C8B-B14F-4D97-AF65-F5344CB8AC3E}">
        <p14:creationId xmlns:p14="http://schemas.microsoft.com/office/powerpoint/2010/main" val="2618479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96BEA-3300-3C94-DE76-8EA0010D927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80E32E42-B263-3DB8-5317-6B134F37E4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1032" y="1914789"/>
            <a:ext cx="6290999" cy="4263322"/>
          </a:xfrm>
          <a:prstGeom prst="rect">
            <a:avLst/>
          </a:prstGeom>
        </p:spPr>
      </p:pic>
      <p:sp>
        <p:nvSpPr>
          <p:cNvPr id="2" name="Title 1">
            <a:extLst>
              <a:ext uri="{FF2B5EF4-FFF2-40B4-BE49-F238E27FC236}">
                <a16:creationId xmlns:a16="http://schemas.microsoft.com/office/drawing/2014/main" id="{AF51FF96-FBD1-65B3-911F-5637C5C71B4C}"/>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3" name="Content Placeholder 2">
            <a:extLst>
              <a:ext uri="{FF2B5EF4-FFF2-40B4-BE49-F238E27FC236}">
                <a16:creationId xmlns:a16="http://schemas.microsoft.com/office/drawing/2014/main" id="{CD1B9313-BF8B-9095-68BA-96C4DBC30479}"/>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0" indent="0">
              <a:buNone/>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9" name="Rounded Rectangle 8">
            <a:extLst>
              <a:ext uri="{FF2B5EF4-FFF2-40B4-BE49-F238E27FC236}">
                <a16:creationId xmlns:a16="http://schemas.microsoft.com/office/drawing/2014/main" id="{E20F97A7-3DF9-97CB-2755-59406FCF7311}"/>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err="1">
                <a:latin typeface="Ink Free" panose="03080402000500000000" pitchFamily="66" charset="0"/>
                <a:ea typeface="Roboto" panose="02000000000000000000" pitchFamily="2" charset="0"/>
                <a:cs typeface="Roboto" panose="02000000000000000000" pitchFamily="2" charset="0"/>
              </a:rPr>
              <a:t>gguniverse</a:t>
            </a:r>
            <a:endParaRPr lang="en-US" sz="4000" b="1">
              <a:latin typeface="Ink Free" panose="03080402000500000000" pitchFamily="66" charset="0"/>
              <a:ea typeface="Roboto" panose="02000000000000000000" pitchFamily="2" charset="0"/>
              <a:cs typeface="Roboto" panose="02000000000000000000" pitchFamily="2" charset="0"/>
            </a:endParaRPr>
          </a:p>
        </p:txBody>
      </p:sp>
      <p:pic>
        <p:nvPicPr>
          <p:cNvPr id="14" name="Image 0" descr="preencoded.png">
            <a:extLst>
              <a:ext uri="{FF2B5EF4-FFF2-40B4-BE49-F238E27FC236}">
                <a16:creationId xmlns:a16="http://schemas.microsoft.com/office/drawing/2014/main" id="{9423CFB2-8785-3260-642C-07BFFC973908}"/>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pic>
        <p:nvPicPr>
          <p:cNvPr id="6" name="Picture 5">
            <a:extLst>
              <a:ext uri="{FF2B5EF4-FFF2-40B4-BE49-F238E27FC236}">
                <a16:creationId xmlns:a16="http://schemas.microsoft.com/office/drawing/2014/main" id="{CC5F849B-D7B8-4E7C-FFF0-C52DFE1BE1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4996" y="1391974"/>
            <a:ext cx="5195683" cy="5258619"/>
          </a:xfrm>
          <a:prstGeom prst="rect">
            <a:avLst/>
          </a:prstGeom>
        </p:spPr>
      </p:pic>
      <p:sp>
        <p:nvSpPr>
          <p:cNvPr id="11" name="TextBox 10">
            <a:extLst>
              <a:ext uri="{FF2B5EF4-FFF2-40B4-BE49-F238E27FC236}">
                <a16:creationId xmlns:a16="http://schemas.microsoft.com/office/drawing/2014/main" id="{56DCA6B2-E5FE-49D9-23BF-8CA887276D7E}"/>
              </a:ext>
            </a:extLst>
          </p:cNvPr>
          <p:cNvSpPr txBox="1"/>
          <p:nvPr/>
        </p:nvSpPr>
        <p:spPr>
          <a:xfrm>
            <a:off x="5691032" y="1391974"/>
            <a:ext cx="6835140" cy="369332"/>
          </a:xfrm>
          <a:prstGeom prst="rect">
            <a:avLst/>
          </a:prstGeom>
          <a:noFill/>
        </p:spPr>
        <p:txBody>
          <a:bodyPr wrap="square">
            <a:spAutoFit/>
          </a:bodyPr>
          <a:lstStyle/>
          <a:p>
            <a:r>
              <a:rPr lang="en-US">
                <a:ea typeface="+mn-lt"/>
                <a:cs typeface="+mn-lt"/>
                <a:hlinkClick r:id="rId7"/>
              </a:rPr>
              <a:t>https://github.com/erikgahner/awesome-ggplot2</a:t>
            </a:r>
            <a:endParaRPr lang="en-US"/>
          </a:p>
        </p:txBody>
      </p:sp>
    </p:spTree>
    <p:extLst>
      <p:ext uri="{BB962C8B-B14F-4D97-AF65-F5344CB8AC3E}">
        <p14:creationId xmlns:p14="http://schemas.microsoft.com/office/powerpoint/2010/main" val="2112965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B9844-708F-044A-8A3C-FFAD628B4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42D6F-1B19-0F9B-1581-CF1AD019C4B8}"/>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1| Why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3" name="Content Placeholder 2">
            <a:extLst>
              <a:ext uri="{FF2B5EF4-FFF2-40B4-BE49-F238E27FC236}">
                <a16:creationId xmlns:a16="http://schemas.microsoft.com/office/drawing/2014/main" id="{C04A7146-9240-22FB-718B-6DFE68BDF700}"/>
              </a:ext>
            </a:extLst>
          </p:cNvPr>
          <p:cNvSpPr>
            <a:spLocks noGrp="1"/>
          </p:cNvSpPr>
          <p:nvPr>
            <p:ph idx="1"/>
          </p:nvPr>
        </p:nvSpPr>
        <p:spPr>
          <a:xfrm>
            <a:off x="244997" y="1253330"/>
            <a:ext cx="11702004" cy="5409769"/>
          </a:xfrm>
        </p:spPr>
        <p:txBody>
          <a:bodyPr vert="horz" lIns="91440" tIns="45720" rIns="91440" bIns="45720" rtlCol="0" anchor="t">
            <a:normAutofit/>
          </a:bodyPr>
          <a:lstStyle/>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pPr marL="457200" lvl="1"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pic>
        <p:nvPicPr>
          <p:cNvPr id="4" name="Image 0" descr="preencoded.png">
            <a:extLst>
              <a:ext uri="{FF2B5EF4-FFF2-40B4-BE49-F238E27FC236}">
                <a16:creationId xmlns:a16="http://schemas.microsoft.com/office/drawing/2014/main" id="{4CC240E6-DA70-BEDF-BE71-9C74374E7E29}"/>
              </a:ext>
            </a:extLst>
          </p:cNvPr>
          <p:cNvPicPr>
            <a:picLocks noChangeAspect="1"/>
          </p:cNvPicPr>
          <p:nvPr>
            <p:custDataLst>
              <p:tags r:id="rId1"/>
            </p:custDataLst>
          </p:nvPr>
        </p:nvPicPr>
        <p:blipFill>
          <a:blip r:embed="rId4"/>
          <a:stretch>
            <a:fillRect/>
          </a:stretch>
        </p:blipFill>
        <p:spPr>
          <a:xfrm>
            <a:off x="11123149" y="5796335"/>
            <a:ext cx="858883" cy="858883"/>
          </a:xfrm>
          <a:prstGeom prst="rect">
            <a:avLst/>
          </a:prstGeom>
        </p:spPr>
      </p:pic>
      <p:sp>
        <p:nvSpPr>
          <p:cNvPr id="23" name="Rectangle 1">
            <a:extLst>
              <a:ext uri="{FF2B5EF4-FFF2-40B4-BE49-F238E27FC236}">
                <a16:creationId xmlns:a16="http://schemas.microsoft.com/office/drawing/2014/main" id="{E09E4C83-E983-B49B-3B9A-A109833F1B1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a:ln>
                  <a:noFill/>
                </a:ln>
                <a:solidFill>
                  <a:srgbClr val="FFFFFF"/>
                </a:solidFill>
                <a:effectLst/>
                <a:latin typeface="-apple-system"/>
              </a:rPr>
              <a:t>&lt;</a:t>
            </a:r>
            <a:r>
              <a:rPr kumimoji="0" lang="en-US" altLang="en-US" sz="1300" b="0" i="0" u="none" strike="noStrike" cap="none" normalizeH="0" baseline="0" err="1">
                <a:ln>
                  <a:noFill/>
                </a:ln>
                <a:solidFill>
                  <a:srgbClr val="FFFFFF"/>
                </a:solidFill>
                <a:effectLst/>
                <a:latin typeface="-apple-system"/>
              </a:rPr>
              <a:t>iframe</a:t>
            </a:r>
            <a:r>
              <a:rPr kumimoji="0" lang="en-US" altLang="en-US" sz="1300" b="0" i="0" u="none" strike="noStrike" cap="none" normalizeH="0" baseline="0">
                <a:ln>
                  <a:noFill/>
                </a:ln>
                <a:solidFill>
                  <a:srgbClr val="FFFFFF"/>
                </a:solidFill>
                <a:effectLst/>
                <a:latin typeface="-apple-system"/>
              </a:rPr>
              <a:t> </a:t>
            </a:r>
            <a:r>
              <a:rPr kumimoji="0" lang="en-US" altLang="en-US" sz="1300" b="0" i="0" u="none" strike="noStrike" cap="none" normalizeH="0" baseline="0" err="1">
                <a:ln>
                  <a:noFill/>
                </a:ln>
                <a:solidFill>
                  <a:srgbClr val="FFFFFF"/>
                </a:solidFill>
                <a:effectLst/>
                <a:latin typeface="-apple-system"/>
              </a:rPr>
              <a:t>src</a:t>
            </a:r>
            <a:r>
              <a:rPr kumimoji="0" lang="en-US" altLang="en-US" sz="1300" b="0" i="0" u="none" strike="noStrike" cap="none" normalizeH="0" baseline="0">
                <a:ln>
                  <a:noFill/>
                </a:ln>
                <a:solidFill>
                  <a:srgbClr val="FFFFFF"/>
                </a:solidFill>
                <a:effectLst/>
                <a:latin typeface="-apple-system"/>
              </a:rPr>
              <a:t>="https://</a:t>
            </a:r>
            <a:r>
              <a:rPr kumimoji="0" lang="en-US" altLang="en-US" sz="1300" b="0" i="0" u="none" strike="noStrike" cap="none" normalizeH="0" baseline="0" err="1">
                <a:ln>
                  <a:noFill/>
                </a:ln>
                <a:solidFill>
                  <a:srgbClr val="FFFFFF"/>
                </a:solidFill>
                <a:effectLst/>
                <a:latin typeface="-apple-system"/>
              </a:rPr>
              <a:t>carbon.now.sh</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embed?bg</a:t>
            </a:r>
            <a:r>
              <a:rPr kumimoji="0" lang="en-US" altLang="en-US" sz="1300" b="0" i="0" u="none" strike="noStrike" cap="none" normalizeH="0" baseline="0">
                <a:ln>
                  <a:noFill/>
                </a:ln>
                <a:solidFill>
                  <a:srgbClr val="FFFFFF"/>
                </a:solidFill>
                <a:effectLst/>
                <a:latin typeface="-apple-system"/>
              </a:rPr>
              <a:t>=rgba%28171%2C+184%2C+195%2C+1%29&amp;t=</a:t>
            </a:r>
            <a:r>
              <a:rPr kumimoji="0" lang="en-US" altLang="en-US" sz="1300" b="0" i="0" u="none" strike="noStrike" cap="none" normalizeH="0" baseline="0" err="1">
                <a:ln>
                  <a:noFill/>
                </a:ln>
                <a:solidFill>
                  <a:srgbClr val="FFFFFF"/>
                </a:solidFill>
                <a:effectLst/>
                <a:latin typeface="-apple-system"/>
              </a:rPr>
              <a:t>hopscotch&amp;wt</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none&amp;l</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r&amp;width</a:t>
            </a:r>
            <a:r>
              <a:rPr kumimoji="0" lang="en-US" altLang="en-US" sz="1300" b="0" i="0" u="none" strike="noStrike" cap="none" normalizeH="0" baseline="0">
                <a:ln>
                  <a:noFill/>
                </a:ln>
                <a:solidFill>
                  <a:srgbClr val="FFFFFF"/>
                </a:solidFill>
                <a:effectLst/>
                <a:latin typeface="-apple-system"/>
              </a:rPr>
              <a:t>=680&amp;ds=</a:t>
            </a:r>
            <a:r>
              <a:rPr kumimoji="0" lang="en-US" altLang="en-US" sz="1300" b="0" i="0" u="none" strike="noStrike" cap="none" normalizeH="0" baseline="0" err="1">
                <a:ln>
                  <a:noFill/>
                </a:ln>
                <a:solidFill>
                  <a:srgbClr val="FFFFFF"/>
                </a:solidFill>
                <a:effectLst/>
                <a:latin typeface="-apple-system"/>
              </a:rPr>
              <a:t>true&amp;dsyoff</a:t>
            </a:r>
            <a:r>
              <a:rPr kumimoji="0" lang="en-US" altLang="en-US" sz="1300" b="0" i="0" u="none" strike="noStrike" cap="none" normalizeH="0" baseline="0">
                <a:ln>
                  <a:noFill/>
                </a:ln>
                <a:solidFill>
                  <a:srgbClr val="FFFFFF"/>
                </a:solidFill>
                <a:effectLst/>
                <a:latin typeface="-apple-system"/>
              </a:rPr>
              <a:t>=20px&amp;dsblur=68px&amp;wc=</a:t>
            </a:r>
            <a:r>
              <a:rPr kumimoji="0" lang="en-US" altLang="en-US" sz="1300" b="0" i="0" u="none" strike="noStrike" cap="none" normalizeH="0" baseline="0" err="1">
                <a:ln>
                  <a:noFill/>
                </a:ln>
                <a:solidFill>
                  <a:srgbClr val="FFFFFF"/>
                </a:solidFill>
                <a:effectLst/>
                <a:latin typeface="-apple-system"/>
              </a:rPr>
              <a:t>true&amp;wa</a:t>
            </a:r>
            <a:r>
              <a:rPr kumimoji="0" lang="en-US" altLang="en-US" sz="1300" b="0" i="0" u="none" strike="noStrike" cap="none" normalizeH="0" baseline="0">
                <a:ln>
                  <a:noFill/>
                </a:ln>
                <a:solidFill>
                  <a:srgbClr val="FFFFFF"/>
                </a:solidFill>
                <a:effectLst/>
                <a:latin typeface="-apple-system"/>
              </a:rPr>
              <a:t>=</a:t>
            </a:r>
            <a:r>
              <a:rPr kumimoji="0" lang="en-US" altLang="en-US" sz="1300" b="0" i="0" u="none" strike="noStrike" cap="none" normalizeH="0" baseline="0" err="1">
                <a:ln>
                  <a:noFill/>
                </a:ln>
                <a:solidFill>
                  <a:srgbClr val="FFFFFF"/>
                </a:solidFill>
                <a:effectLst/>
                <a:latin typeface="-apple-system"/>
              </a:rPr>
              <a:t>true&amp;pv</a:t>
            </a:r>
            <a:r>
              <a:rPr kumimoji="0" lang="en-US" altLang="en-US" sz="1300" b="0" i="0" u="none" strike="noStrike" cap="none" normalizeH="0" baseline="0">
                <a:ln>
                  <a:noFill/>
                </a:ln>
                <a:solidFill>
                  <a:srgbClr val="FFFFFF"/>
                </a:solidFill>
                <a:effectLst/>
                <a:latin typeface="-apple-system"/>
              </a:rPr>
              <a:t>=56px&amp;ph=56px&amp;ln=</a:t>
            </a:r>
            <a:r>
              <a:rPr kumimoji="0" lang="en-US" altLang="en-US" sz="1300" b="0" i="0" u="none" strike="noStrike" cap="none" normalizeH="0" baseline="0" err="1">
                <a:ln>
                  <a:noFill/>
                </a:ln>
                <a:solidFill>
                  <a:srgbClr val="FFFFFF"/>
                </a:solidFill>
                <a:effectLst/>
                <a:latin typeface="-apple-system"/>
              </a:rPr>
              <a:t>false&amp;fl</a:t>
            </a:r>
            <a:r>
              <a:rPr kumimoji="0" lang="en-US" altLang="en-US" sz="1300" b="0" i="0" u="none" strike="noStrike" cap="none" normalizeH="0" baseline="0">
                <a:ln>
                  <a:noFill/>
                </a:ln>
                <a:solidFill>
                  <a:srgbClr val="FFFFFF"/>
                </a:solidFill>
                <a:effectLst/>
                <a:latin typeface="-apple-system"/>
              </a:rPr>
              <a:t>=1&amp;fm=</a:t>
            </a:r>
            <a:r>
              <a:rPr kumimoji="0" lang="en-US" altLang="en-US" sz="1300" b="0" i="0" u="none" strike="noStrike" cap="none" normalizeH="0" baseline="0" err="1">
                <a:ln>
                  <a:noFill/>
                </a:ln>
                <a:solidFill>
                  <a:srgbClr val="FFFFFF"/>
                </a:solidFill>
                <a:effectLst/>
                <a:latin typeface="-apple-system"/>
              </a:rPr>
              <a:t>Hack&amp;fs</a:t>
            </a:r>
            <a:r>
              <a:rPr kumimoji="0" lang="en-US" altLang="en-US" sz="1300" b="0" i="0" u="none" strike="noStrike" cap="none" normalizeH="0" baseline="0">
                <a:ln>
                  <a:noFill/>
                </a:ln>
                <a:solidFill>
                  <a:srgbClr val="FFFFFF"/>
                </a:solidFill>
                <a:effectLst/>
                <a:latin typeface="-apple-system"/>
              </a:rPr>
              <a:t>=14px&amp;lh=133%25&amp;si=</a:t>
            </a:r>
            <a:r>
              <a:rPr kumimoji="0" lang="en-US" altLang="en-US" sz="1300" b="0" i="0" u="none" strike="noStrike" cap="none" normalizeH="0" baseline="0" err="1">
                <a:ln>
                  <a:noFill/>
                </a:ln>
                <a:solidFill>
                  <a:srgbClr val="FFFFFF"/>
                </a:solidFill>
                <a:effectLst/>
                <a:latin typeface="-apple-system"/>
              </a:rPr>
              <a:t>false&amp;es</a:t>
            </a:r>
            <a:r>
              <a:rPr kumimoji="0" lang="en-US" altLang="en-US" sz="1300" b="0" i="0" u="none" strike="noStrike" cap="none" normalizeH="0" baseline="0">
                <a:ln>
                  <a:noFill/>
                </a:ln>
                <a:solidFill>
                  <a:srgbClr val="FFFFFF"/>
                </a:solidFill>
                <a:effectLst/>
                <a:latin typeface="-apple-system"/>
              </a:rPr>
              <a:t>=2x&amp;wm=</a:t>
            </a:r>
            <a:r>
              <a:rPr kumimoji="0" lang="en-US" altLang="en-US" sz="1300" b="0" i="0" u="none" strike="noStrike" cap="none" normalizeH="0" baseline="0" err="1">
                <a:ln>
                  <a:noFill/>
                </a:ln>
                <a:solidFill>
                  <a:srgbClr val="FFFFFF"/>
                </a:solidFill>
                <a:effectLst/>
                <a:latin typeface="-apple-system"/>
              </a:rPr>
              <a:t>false&amp;code</a:t>
            </a:r>
            <a:r>
              <a:rPr kumimoji="0" lang="en-US" altLang="en-US" sz="1300" b="0" i="0" u="none" strike="noStrike" cap="none" normalizeH="0" baseline="0">
                <a:ln>
                  <a:noFill/>
                </a:ln>
                <a:solidFill>
                  <a:srgbClr val="FFFFFF"/>
                </a:solidFill>
                <a:effectLst/>
                <a:latin typeface="-apple-system"/>
              </a:rPr>
              <a:t>=ggplot%28dot_data%252C%2520aes%28x%2520%253D%2520gene%252C%2520y%2520%253D%2520category%29%29%2520%252B%250A%2520%2520geom_point%28aes%28size%2520%253D%2520pct_expressed%252C%2520color%2520%253D%2520avg_expression%29%29%2520%252B%250A%2520%2520scale_size_continuous%28range%2520%253D%2520c%281%252C%252010%29%252C%2520limits%2520%253D%2520c%280%252C%2520100%29%252C%2520name%2520%253D%2520%2522%2525%2520patients%2520expressed%2522%29%2520%252B%250A%2520%2520scale_color_gradient%28low%2520%2520%253D%2520%2522blue%2522%252C%2520high%2520%253D%2520%2522red%2522%252C%2520name%2520%253D%2520%2522Avg%2520log1p%28TPM%29%2522%29%2520%252B%250A%2520%2520labs%28x%2520%253D%2520NULL%252C%2520y%2520%253D%2520NULL%252C%2520title%2520%253D%2520%2522Gene%2520expression%2520in%2520ZERO2%2520patients%2522%29%2520%252B%250A%2520%2520theme_bw%28%29" style="width: 927px; height: 279px; border:0; transform: scale(1); </a:t>
            </a:r>
            <a:r>
              <a:rPr kumimoji="0" lang="en-US" altLang="en-US" sz="1300" b="0" i="0" u="none" strike="noStrike" cap="none" normalizeH="0" baseline="0" err="1">
                <a:ln>
                  <a:noFill/>
                </a:ln>
                <a:solidFill>
                  <a:srgbClr val="FFFFFF"/>
                </a:solidFill>
                <a:effectLst/>
                <a:latin typeface="-apple-system"/>
              </a:rPr>
              <a:t>overflow:hidden</a:t>
            </a:r>
            <a:r>
              <a:rPr kumimoji="0" lang="en-US" altLang="en-US" sz="1300" b="0" i="0" u="none" strike="noStrike" cap="none" normalizeH="0" baseline="0">
                <a:ln>
                  <a:noFill/>
                </a:ln>
                <a:solidFill>
                  <a:srgbClr val="FFFFFF"/>
                </a:solidFill>
                <a:effectLst/>
                <a:latin typeface="-apple-system"/>
              </a:rPr>
              <a:t>;" sandbox="allow-scripts allow-same-origin"&gt; &lt;/</a:t>
            </a:r>
            <a:r>
              <a:rPr kumimoji="0" lang="en-US" altLang="en-US" sz="1300" b="0" i="0" u="none" strike="noStrike" cap="none" normalizeH="0" baseline="0" err="1">
                <a:ln>
                  <a:noFill/>
                </a:ln>
                <a:solidFill>
                  <a:srgbClr val="FFFFFF"/>
                </a:solidFill>
                <a:effectLst/>
                <a:latin typeface="-apple-system"/>
              </a:rPr>
              <a:t>iframe</a:t>
            </a:r>
            <a:r>
              <a:rPr kumimoji="0" lang="en-US" altLang="en-US" sz="1300" b="0" i="0" u="none" strike="noStrike" cap="none" normalizeH="0" baseline="0">
                <a:ln>
                  <a:noFill/>
                </a:ln>
                <a:solidFill>
                  <a:srgbClr val="FFFFFF"/>
                </a:solidFill>
                <a:effectLst/>
                <a:latin typeface="-apple-system"/>
              </a:rPr>
              <a:t>&gt;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ounded Rectangle 5">
            <a:extLst>
              <a:ext uri="{FF2B5EF4-FFF2-40B4-BE49-F238E27FC236}">
                <a16:creationId xmlns:a16="http://schemas.microsoft.com/office/drawing/2014/main" id="{5BA1106D-C6A2-9090-4A1E-0F914FFBF23E}"/>
              </a:ext>
            </a:extLst>
          </p:cNvPr>
          <p:cNvSpPr/>
          <p:nvPr/>
        </p:nvSpPr>
        <p:spPr>
          <a:xfrm>
            <a:off x="4113167" y="398391"/>
            <a:ext cx="3155733" cy="636608"/>
          </a:xfrm>
          <a:prstGeom prst="roundRect">
            <a:avLst/>
          </a:prstGeom>
          <a:solidFill>
            <a:srgbClr val="526001">
              <a:alpha val="80000"/>
            </a:srgbClr>
          </a:solidFill>
          <a:ln>
            <a:noFill/>
          </a:ln>
        </p:spPr>
        <p:style>
          <a:lnRef idx="0">
            <a:scrgbClr r="0" g="0" b="0"/>
          </a:lnRef>
          <a:fillRef idx="0">
            <a:scrgbClr r="0" g="0" b="0"/>
          </a:fillRef>
          <a:effectRef idx="0">
            <a:scrgbClr r="0" g="0" b="0"/>
          </a:effectRef>
          <a:fontRef idx="minor">
            <a:schemeClr val="lt1"/>
          </a:fontRef>
        </p:style>
        <p:txBody>
          <a:bodyPr wrap="square" rtlCol="0" anchor="ctr"/>
          <a:lstStyle/>
          <a:p>
            <a:pPr algn="ctr"/>
            <a:r>
              <a:rPr lang="en-US" sz="4000" b="1" err="1">
                <a:latin typeface="Ink Free" panose="03080402000500000000" pitchFamily="66" charset="0"/>
                <a:ea typeface="Roboto" panose="02000000000000000000" pitchFamily="2" charset="0"/>
                <a:cs typeface="Roboto" panose="02000000000000000000" pitchFamily="2" charset="0"/>
              </a:rPr>
              <a:t>gguniverse</a:t>
            </a:r>
            <a:endParaRPr lang="en-US" sz="4000" b="1">
              <a:latin typeface="Ink Free" panose="03080402000500000000" pitchFamily="66" charset="0"/>
              <a:ea typeface="Roboto" panose="02000000000000000000" pitchFamily="2" charset="0"/>
              <a:cs typeface="Roboto" panose="02000000000000000000" pitchFamily="2" charset="0"/>
            </a:endParaRPr>
          </a:p>
        </p:txBody>
      </p:sp>
      <p:pic>
        <p:nvPicPr>
          <p:cNvPr id="8" name="Picture 7">
            <a:extLst>
              <a:ext uri="{FF2B5EF4-FFF2-40B4-BE49-F238E27FC236}">
                <a16:creationId xmlns:a16="http://schemas.microsoft.com/office/drawing/2014/main" id="{F27D2B78-219F-8127-60C8-973CA3C4AEDC}"/>
              </a:ext>
            </a:extLst>
          </p:cNvPr>
          <p:cNvPicPr>
            <a:picLocks noChangeAspect="1"/>
          </p:cNvPicPr>
          <p:nvPr/>
        </p:nvPicPr>
        <p:blipFill>
          <a:blip r:embed="rId5">
            <a:extLst>
              <a:ext uri="{28A0092B-C50C-407E-A947-70E740481C1C}">
                <a14:useLocalDpi xmlns:a14="http://schemas.microsoft.com/office/drawing/2010/main" val="0"/>
              </a:ext>
            </a:extLst>
          </a:blip>
          <a:srcRect t="2847" b="8316"/>
          <a:stretch>
            <a:fillRect/>
          </a:stretch>
        </p:blipFill>
        <p:spPr>
          <a:xfrm>
            <a:off x="298947" y="1231000"/>
            <a:ext cx="2702077" cy="2400448"/>
          </a:xfrm>
          <a:prstGeom prst="rect">
            <a:avLst/>
          </a:prstGeom>
        </p:spPr>
      </p:pic>
      <p:pic>
        <p:nvPicPr>
          <p:cNvPr id="10" name="Picture 9">
            <a:extLst>
              <a:ext uri="{FF2B5EF4-FFF2-40B4-BE49-F238E27FC236}">
                <a16:creationId xmlns:a16="http://schemas.microsoft.com/office/drawing/2014/main" id="{893D5245-7F7D-D145-1176-B4267A74AB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70813" y="3653658"/>
            <a:ext cx="3036761" cy="3036761"/>
          </a:xfrm>
          <a:prstGeom prst="rect">
            <a:avLst/>
          </a:prstGeom>
        </p:spPr>
      </p:pic>
      <p:pic>
        <p:nvPicPr>
          <p:cNvPr id="13" name="Picture 12">
            <a:extLst>
              <a:ext uri="{FF2B5EF4-FFF2-40B4-BE49-F238E27FC236}">
                <a16:creationId xmlns:a16="http://schemas.microsoft.com/office/drawing/2014/main" id="{F0EAE65C-8FC1-884D-9A19-0D29A1639A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52195" y="3653658"/>
            <a:ext cx="3036760" cy="3036760"/>
          </a:xfrm>
          <a:prstGeom prst="rect">
            <a:avLst/>
          </a:prstGeom>
        </p:spPr>
      </p:pic>
      <p:pic>
        <p:nvPicPr>
          <p:cNvPr id="15" name="Picture 14">
            <a:extLst>
              <a:ext uri="{FF2B5EF4-FFF2-40B4-BE49-F238E27FC236}">
                <a16:creationId xmlns:a16="http://schemas.microsoft.com/office/drawing/2014/main" id="{4CCA615C-ED3F-2874-E310-F8C0CF468F35}"/>
              </a:ext>
            </a:extLst>
          </p:cNvPr>
          <p:cNvPicPr>
            <a:picLocks noChangeAspect="1"/>
          </p:cNvPicPr>
          <p:nvPr/>
        </p:nvPicPr>
        <p:blipFill>
          <a:blip r:embed="rId8">
            <a:extLst>
              <a:ext uri="{28A0092B-C50C-407E-A947-70E740481C1C}">
                <a14:useLocalDpi xmlns:a14="http://schemas.microsoft.com/office/drawing/2010/main" val="0"/>
              </a:ext>
            </a:extLst>
          </a:blip>
          <a:srcRect l="16773" t="13184" r="9053" b="14877"/>
          <a:stretch>
            <a:fillRect/>
          </a:stretch>
        </p:blipFill>
        <p:spPr>
          <a:xfrm>
            <a:off x="7841390" y="3631448"/>
            <a:ext cx="3036760" cy="2945288"/>
          </a:xfrm>
          <a:prstGeom prst="rect">
            <a:avLst/>
          </a:prstGeom>
        </p:spPr>
      </p:pic>
      <p:pic>
        <p:nvPicPr>
          <p:cNvPr id="17" name="Picture 16">
            <a:extLst>
              <a:ext uri="{FF2B5EF4-FFF2-40B4-BE49-F238E27FC236}">
                <a16:creationId xmlns:a16="http://schemas.microsoft.com/office/drawing/2014/main" id="{8B9A0CEC-F309-EEDA-9D00-EB1016966CCF}"/>
              </a:ext>
            </a:extLst>
          </p:cNvPr>
          <p:cNvPicPr>
            <a:picLocks noChangeAspect="1"/>
          </p:cNvPicPr>
          <p:nvPr/>
        </p:nvPicPr>
        <p:blipFill>
          <a:blip r:embed="rId9">
            <a:extLst>
              <a:ext uri="{28A0092B-C50C-407E-A947-70E740481C1C}">
                <a14:useLocalDpi xmlns:a14="http://schemas.microsoft.com/office/drawing/2010/main" val="0"/>
              </a:ext>
            </a:extLst>
          </a:blip>
          <a:srcRect l="8818" r="7230" b="1469"/>
          <a:stretch>
            <a:fillRect/>
          </a:stretch>
        </p:blipFill>
        <p:spPr>
          <a:xfrm>
            <a:off x="3129332" y="1251094"/>
            <a:ext cx="3541581" cy="2375244"/>
          </a:xfrm>
          <a:prstGeom prst="rect">
            <a:avLst/>
          </a:prstGeom>
        </p:spPr>
      </p:pic>
      <p:pic>
        <p:nvPicPr>
          <p:cNvPr id="19" name="Picture 18">
            <a:extLst>
              <a:ext uri="{FF2B5EF4-FFF2-40B4-BE49-F238E27FC236}">
                <a16:creationId xmlns:a16="http://schemas.microsoft.com/office/drawing/2014/main" id="{234D9341-AEB6-5F86-ECA6-AC8AA23CB76F}"/>
              </a:ext>
            </a:extLst>
          </p:cNvPr>
          <p:cNvPicPr>
            <a:picLocks noChangeAspect="1"/>
          </p:cNvPicPr>
          <p:nvPr/>
        </p:nvPicPr>
        <p:blipFill>
          <a:blip r:embed="rId10">
            <a:extLst>
              <a:ext uri="{28A0092B-C50C-407E-A947-70E740481C1C}">
                <a14:useLocalDpi xmlns:a14="http://schemas.microsoft.com/office/drawing/2010/main" val="0"/>
              </a:ext>
            </a:extLst>
          </a:blip>
          <a:srcRect r="2984" b="40146"/>
          <a:stretch>
            <a:fillRect/>
          </a:stretch>
        </p:blipFill>
        <p:spPr>
          <a:xfrm>
            <a:off x="6799221" y="1219777"/>
            <a:ext cx="5392779" cy="2376470"/>
          </a:xfrm>
          <a:prstGeom prst="rect">
            <a:avLst/>
          </a:prstGeom>
        </p:spPr>
      </p:pic>
    </p:spTree>
    <p:extLst>
      <p:ext uri="{BB962C8B-B14F-4D97-AF65-F5344CB8AC3E}">
        <p14:creationId xmlns:p14="http://schemas.microsoft.com/office/powerpoint/2010/main" val="1002296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B318F-885A-6362-8E84-E78AEA5AD45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10BB30-B823-B0EB-0DA7-7BDA767B32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1697" y="1664550"/>
            <a:ext cx="6866878" cy="5171980"/>
          </a:xfrm>
          <a:prstGeom prst="rect">
            <a:avLst/>
          </a:prstGeom>
        </p:spPr>
      </p:pic>
      <p:sp>
        <p:nvSpPr>
          <p:cNvPr id="3" name="Content Placeholder 2">
            <a:extLst>
              <a:ext uri="{FF2B5EF4-FFF2-40B4-BE49-F238E27FC236}">
                <a16:creationId xmlns:a16="http://schemas.microsoft.com/office/drawing/2014/main" id="{399CBF40-2F29-EF77-EC85-693D97419179}"/>
              </a:ext>
            </a:extLst>
          </p:cNvPr>
          <p:cNvSpPr>
            <a:spLocks noGrp="1"/>
          </p:cNvSpPr>
          <p:nvPr>
            <p:ph idx="1"/>
          </p:nvPr>
        </p:nvSpPr>
        <p:spPr>
          <a:xfrm>
            <a:off x="4591697" y="1238489"/>
            <a:ext cx="7856620" cy="5424609"/>
          </a:xfrm>
        </p:spPr>
        <p:txBody>
          <a:bodyPr vert="horz" lIns="91440" tIns="45720" rIns="91440" bIns="45720" rtlCol="0" anchor="t">
            <a:normAutofit/>
          </a:bodyPr>
          <a:lstStyle/>
          <a:p>
            <a:pPr marL="0" indent="0">
              <a:buNone/>
            </a:pPr>
            <a:r>
              <a:rPr lang="en-US" sz="2400">
                <a:solidFill>
                  <a:srgbClr val="526001"/>
                </a:solidFill>
                <a:latin typeface="Roboto" panose="02000000000000000000" pitchFamily="2" charset="0"/>
                <a:ea typeface="Roboto" panose="02000000000000000000" pitchFamily="2" charset="0"/>
                <a:cs typeface="Roboto" panose="02000000000000000000" pitchFamily="2" charset="0"/>
              </a:rPr>
              <a:t>https://</a:t>
            </a:r>
            <a:r>
              <a:rPr lang="en-US" sz="2400" err="1">
                <a:solidFill>
                  <a:srgbClr val="526001"/>
                </a:solidFill>
                <a:latin typeface="Roboto" panose="02000000000000000000" pitchFamily="2" charset="0"/>
                <a:ea typeface="Roboto" panose="02000000000000000000" pitchFamily="2" charset="0"/>
                <a:cs typeface="Roboto" panose="02000000000000000000" pitchFamily="2" charset="0"/>
              </a:rPr>
              <a:t>github.com</a:t>
            </a:r>
            <a:r>
              <a:rPr lang="en-US" sz="2400">
                <a:solidFill>
                  <a:srgbClr val="526001"/>
                </a:solidFill>
                <a:latin typeface="Roboto" panose="02000000000000000000" pitchFamily="2" charset="0"/>
                <a:ea typeface="Roboto" panose="02000000000000000000" pitchFamily="2" charset="0"/>
                <a:cs typeface="Roboto" panose="02000000000000000000" pitchFamily="2" charset="0"/>
              </a:rPr>
              <a:t>/Anne-</a:t>
            </a:r>
            <a:r>
              <a:rPr lang="en-US" sz="2400" err="1">
                <a:solidFill>
                  <a:srgbClr val="526001"/>
                </a:solidFill>
                <a:latin typeface="Roboto" panose="02000000000000000000" pitchFamily="2" charset="0"/>
                <a:ea typeface="Roboto" panose="02000000000000000000" pitchFamily="2" charset="0"/>
                <a:cs typeface="Roboto" panose="02000000000000000000" pitchFamily="2" charset="0"/>
              </a:rPr>
              <a:t>LiseGerard</a:t>
            </a:r>
            <a:r>
              <a:rPr lang="en-US" sz="2400">
                <a:solidFill>
                  <a:srgbClr val="526001"/>
                </a:solidFill>
                <a:latin typeface="Roboto" panose="02000000000000000000" pitchFamily="2" charset="0"/>
                <a:ea typeface="Roboto" panose="02000000000000000000" pitchFamily="2" charset="0"/>
                <a:cs typeface="Roboto" panose="02000000000000000000" pitchFamily="2" charset="0"/>
              </a:rPr>
              <a:t>/</a:t>
            </a:r>
            <a:r>
              <a:rPr lang="en-US" sz="2400" err="1">
                <a:solidFill>
                  <a:srgbClr val="526001"/>
                </a:solidFill>
                <a:latin typeface="Roboto" panose="02000000000000000000" pitchFamily="2" charset="0"/>
                <a:ea typeface="Roboto" panose="02000000000000000000" pitchFamily="2" charset="0"/>
                <a:cs typeface="Roboto" panose="02000000000000000000" pitchFamily="2" charset="0"/>
              </a:rPr>
              <a:t>ggplot_bioedu</a:t>
            </a:r>
            <a:endParaRPr lang="en-US" sz="2400">
              <a:solidFill>
                <a:srgbClr val="526001"/>
              </a:solidFill>
              <a:latin typeface="Roboto" panose="02000000000000000000" pitchFamily="2" charset="0"/>
              <a:ea typeface="Roboto" panose="02000000000000000000" pitchFamily="2" charset="0"/>
              <a:cs typeface="Roboto" panose="02000000000000000000" pitchFamily="2" charset="0"/>
            </a:endParaRPr>
          </a:p>
          <a:p>
            <a:pPr marL="0" indent="0">
              <a:buNone/>
            </a:pPr>
            <a:endParaRPr lang="en-US">
              <a:latin typeface="Roboto" panose="02000000000000000000" pitchFamily="2" charset="0"/>
              <a:ea typeface="Roboto" panose="02000000000000000000" pitchFamily="2" charset="0"/>
              <a:cs typeface="Roboto" panose="02000000000000000000" pitchFamily="2" charset="0"/>
            </a:endParaRPr>
          </a:p>
          <a:p>
            <a:pPr marL="0" indent="0">
              <a:buNone/>
            </a:pPr>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6" name="Title 1">
            <a:extLst>
              <a:ext uri="{FF2B5EF4-FFF2-40B4-BE49-F238E27FC236}">
                <a16:creationId xmlns:a16="http://schemas.microsoft.com/office/drawing/2014/main" id="{9632EA7C-B587-A387-FFFB-ADD8FD03F3B8}"/>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2| How to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9" name="TextBox 8">
            <a:extLst>
              <a:ext uri="{FF2B5EF4-FFF2-40B4-BE49-F238E27FC236}">
                <a16:creationId xmlns:a16="http://schemas.microsoft.com/office/drawing/2014/main" id="{410879BC-F492-9418-86D0-702A5D692510}"/>
              </a:ext>
            </a:extLst>
          </p:cNvPr>
          <p:cNvSpPr txBox="1"/>
          <p:nvPr/>
        </p:nvSpPr>
        <p:spPr>
          <a:xfrm>
            <a:off x="7086600" y="1479884"/>
            <a:ext cx="184731" cy="369332"/>
          </a:xfrm>
          <a:prstGeom prst="rect">
            <a:avLst/>
          </a:prstGeom>
          <a:noFill/>
        </p:spPr>
        <p:txBody>
          <a:bodyPr wrap="none" rtlCol="0">
            <a:spAutoFit/>
          </a:bodyPr>
          <a:lstStyle/>
          <a:p>
            <a:endParaRPr lang="en-US"/>
          </a:p>
        </p:txBody>
      </p:sp>
      <p:pic>
        <p:nvPicPr>
          <p:cNvPr id="21" name="Picture 20">
            <a:extLst>
              <a:ext uri="{FF2B5EF4-FFF2-40B4-BE49-F238E27FC236}">
                <a16:creationId xmlns:a16="http://schemas.microsoft.com/office/drawing/2014/main" id="{3BDA9817-9C18-34C9-85E9-78B839A6E0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81501" y="5204649"/>
            <a:ext cx="739669" cy="912942"/>
          </a:xfrm>
          <a:prstGeom prst="rect">
            <a:avLst/>
          </a:prstGeom>
        </p:spPr>
      </p:pic>
      <p:pic>
        <p:nvPicPr>
          <p:cNvPr id="26" name="Image 0" descr="preencoded.png">
            <a:extLst>
              <a:ext uri="{FF2B5EF4-FFF2-40B4-BE49-F238E27FC236}">
                <a16:creationId xmlns:a16="http://schemas.microsoft.com/office/drawing/2014/main" id="{5142C682-0336-6EBA-2F5D-663680DFF553}"/>
              </a:ext>
            </a:extLst>
          </p:cNvPr>
          <p:cNvPicPr>
            <a:picLocks noChangeAspect="1"/>
          </p:cNvPicPr>
          <p:nvPr>
            <p:custDataLst>
              <p:tags r:id="rId1"/>
            </p:custDataLst>
          </p:nvPr>
        </p:nvPicPr>
        <p:blipFill>
          <a:blip r:embed="rId6"/>
          <a:stretch>
            <a:fillRect/>
          </a:stretch>
        </p:blipFill>
        <p:spPr>
          <a:xfrm>
            <a:off x="11123149" y="5796335"/>
            <a:ext cx="858883" cy="858883"/>
          </a:xfrm>
          <a:prstGeom prst="rect">
            <a:avLst/>
          </a:prstGeom>
        </p:spPr>
      </p:pic>
      <p:pic>
        <p:nvPicPr>
          <p:cNvPr id="29" name="Picture 28">
            <a:extLst>
              <a:ext uri="{FF2B5EF4-FFF2-40B4-BE49-F238E27FC236}">
                <a16:creationId xmlns:a16="http://schemas.microsoft.com/office/drawing/2014/main" id="{AB4650F3-48ED-AF68-6517-72CCF2B533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4996" y="1238490"/>
            <a:ext cx="4346701" cy="5433376"/>
          </a:xfrm>
          <a:prstGeom prst="rect">
            <a:avLst/>
          </a:prstGeom>
        </p:spPr>
      </p:pic>
      <p:pic>
        <p:nvPicPr>
          <p:cNvPr id="5" name="Picture 4">
            <a:extLst>
              <a:ext uri="{FF2B5EF4-FFF2-40B4-BE49-F238E27FC236}">
                <a16:creationId xmlns:a16="http://schemas.microsoft.com/office/drawing/2014/main" id="{277B49A4-0DA8-1B74-104D-1A128B436E2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31912" y="4561891"/>
            <a:ext cx="1859786" cy="2132553"/>
          </a:xfrm>
          <a:prstGeom prst="rect">
            <a:avLst/>
          </a:prstGeom>
        </p:spPr>
      </p:pic>
    </p:spTree>
    <p:extLst>
      <p:ext uri="{BB962C8B-B14F-4D97-AF65-F5344CB8AC3E}">
        <p14:creationId xmlns:p14="http://schemas.microsoft.com/office/powerpoint/2010/main" val="2246326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EB16-7539-75E6-572D-7BE254F94D4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7E91B3B-BEA7-CF68-5A2E-934D64C64BF3}"/>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2| How to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9" name="TextBox 8">
            <a:extLst>
              <a:ext uri="{FF2B5EF4-FFF2-40B4-BE49-F238E27FC236}">
                <a16:creationId xmlns:a16="http://schemas.microsoft.com/office/drawing/2014/main" id="{7D777B2D-DC7B-3F27-22C6-E4C61833D04F}"/>
              </a:ext>
            </a:extLst>
          </p:cNvPr>
          <p:cNvSpPr txBox="1"/>
          <p:nvPr/>
        </p:nvSpPr>
        <p:spPr>
          <a:xfrm>
            <a:off x="7086600" y="1479884"/>
            <a:ext cx="184731" cy="369332"/>
          </a:xfrm>
          <a:prstGeom prst="rect">
            <a:avLst/>
          </a:prstGeom>
          <a:noFill/>
        </p:spPr>
        <p:txBody>
          <a:bodyPr wrap="none" rtlCol="0">
            <a:spAutoFit/>
          </a:bodyPr>
          <a:lstStyle/>
          <a:p>
            <a:endParaRPr lang="en-US"/>
          </a:p>
        </p:txBody>
      </p:sp>
      <p:pic>
        <p:nvPicPr>
          <p:cNvPr id="2" name="Image 0" descr="preencoded.png">
            <a:extLst>
              <a:ext uri="{FF2B5EF4-FFF2-40B4-BE49-F238E27FC236}">
                <a16:creationId xmlns:a16="http://schemas.microsoft.com/office/drawing/2014/main" id="{A2F6DEEB-3C36-EE56-449A-1A9D31E77CA8}"/>
              </a:ext>
            </a:extLst>
          </p:cNvPr>
          <p:cNvPicPr>
            <a:picLocks noChangeAspect="1"/>
          </p:cNvPicPr>
          <p:nvPr>
            <p:custDataLst>
              <p:tags r:id="rId1"/>
            </p:custDataLst>
          </p:nvPr>
        </p:nvPicPr>
        <p:blipFill>
          <a:blip r:embed="rId4"/>
          <a:stretch>
            <a:fillRect/>
          </a:stretch>
        </p:blipFill>
        <p:spPr>
          <a:xfrm>
            <a:off x="11123149" y="5796335"/>
            <a:ext cx="858883" cy="858883"/>
          </a:xfrm>
          <a:prstGeom prst="rect">
            <a:avLst/>
          </a:prstGeom>
        </p:spPr>
      </p:pic>
      <p:pic>
        <p:nvPicPr>
          <p:cNvPr id="10" name="Picture 9">
            <a:extLst>
              <a:ext uri="{FF2B5EF4-FFF2-40B4-BE49-F238E27FC236}">
                <a16:creationId xmlns:a16="http://schemas.microsoft.com/office/drawing/2014/main" id="{54485873-565B-2457-2C69-FD4893FC46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996" y="1238491"/>
            <a:ext cx="4345218" cy="3256017"/>
          </a:xfrm>
          <a:prstGeom prst="rect">
            <a:avLst/>
          </a:prstGeom>
        </p:spPr>
      </p:pic>
      <p:pic>
        <p:nvPicPr>
          <p:cNvPr id="18" name="Picture 17">
            <a:extLst>
              <a:ext uri="{FF2B5EF4-FFF2-40B4-BE49-F238E27FC236}">
                <a16:creationId xmlns:a16="http://schemas.microsoft.com/office/drawing/2014/main" id="{09839997-D0EE-12AE-157B-19AFC0250CE6}"/>
              </a:ext>
            </a:extLst>
          </p:cNvPr>
          <p:cNvPicPr>
            <a:picLocks noChangeAspect="1"/>
          </p:cNvPicPr>
          <p:nvPr/>
        </p:nvPicPr>
        <p:blipFill>
          <a:blip r:embed="rId6">
            <a:extLst>
              <a:ext uri="{28A0092B-C50C-407E-A947-70E740481C1C}">
                <a14:useLocalDpi xmlns:a14="http://schemas.microsoft.com/office/drawing/2010/main" val="0"/>
              </a:ext>
            </a:extLst>
          </a:blip>
          <a:srcRect l="8114" t="18278" r="7791" b="17907"/>
          <a:stretch>
            <a:fillRect/>
          </a:stretch>
        </p:blipFill>
        <p:spPr>
          <a:xfrm>
            <a:off x="4747797" y="283806"/>
            <a:ext cx="7234235" cy="2486378"/>
          </a:xfrm>
          <a:prstGeom prst="rect">
            <a:avLst/>
          </a:prstGeom>
        </p:spPr>
      </p:pic>
      <p:pic>
        <p:nvPicPr>
          <p:cNvPr id="22" name="Picture 21">
            <a:extLst>
              <a:ext uri="{FF2B5EF4-FFF2-40B4-BE49-F238E27FC236}">
                <a16:creationId xmlns:a16="http://schemas.microsoft.com/office/drawing/2014/main" id="{6B840F4F-61BA-765E-A01A-427BC67639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39973" y="2770184"/>
            <a:ext cx="5410740" cy="3865803"/>
          </a:xfrm>
          <a:prstGeom prst="rect">
            <a:avLst/>
          </a:prstGeom>
        </p:spPr>
      </p:pic>
    </p:spTree>
    <p:extLst>
      <p:ext uri="{BB962C8B-B14F-4D97-AF65-F5344CB8AC3E}">
        <p14:creationId xmlns:p14="http://schemas.microsoft.com/office/powerpoint/2010/main" val="3125554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266E3-8EDC-D070-37F7-097F897BE43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F445325-4729-AC7B-324D-18276FF5728B}"/>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2| How to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9" name="TextBox 8">
            <a:extLst>
              <a:ext uri="{FF2B5EF4-FFF2-40B4-BE49-F238E27FC236}">
                <a16:creationId xmlns:a16="http://schemas.microsoft.com/office/drawing/2014/main" id="{7DD00D5F-BCC5-6F2A-17AB-75B40C31D7B7}"/>
              </a:ext>
            </a:extLst>
          </p:cNvPr>
          <p:cNvSpPr txBox="1"/>
          <p:nvPr/>
        </p:nvSpPr>
        <p:spPr>
          <a:xfrm>
            <a:off x="7086600" y="1479884"/>
            <a:ext cx="184731" cy="369332"/>
          </a:xfrm>
          <a:prstGeom prst="rect">
            <a:avLst/>
          </a:prstGeom>
          <a:noFill/>
        </p:spPr>
        <p:txBody>
          <a:bodyPr wrap="none" rtlCol="0">
            <a:spAutoFit/>
          </a:bodyPr>
          <a:lstStyle/>
          <a:p>
            <a:endParaRPr lang="en-US"/>
          </a:p>
        </p:txBody>
      </p:sp>
      <p:pic>
        <p:nvPicPr>
          <p:cNvPr id="4" name="Picture 3">
            <a:extLst>
              <a:ext uri="{FF2B5EF4-FFF2-40B4-BE49-F238E27FC236}">
                <a16:creationId xmlns:a16="http://schemas.microsoft.com/office/drawing/2014/main" id="{873A827E-927A-30D7-00B3-E3B42055F3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2180" y="1382279"/>
            <a:ext cx="9734616" cy="5475721"/>
          </a:xfrm>
          <a:prstGeom prst="rect">
            <a:avLst/>
          </a:prstGeom>
        </p:spPr>
      </p:pic>
      <p:pic>
        <p:nvPicPr>
          <p:cNvPr id="5" name="Image 0" descr="preencoded.png">
            <a:extLst>
              <a:ext uri="{FF2B5EF4-FFF2-40B4-BE49-F238E27FC236}">
                <a16:creationId xmlns:a16="http://schemas.microsoft.com/office/drawing/2014/main" id="{04CFAE67-FF60-ED93-F081-1394AC044C4C}"/>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8" name="Text 0">
            <a:extLst>
              <a:ext uri="{FF2B5EF4-FFF2-40B4-BE49-F238E27FC236}">
                <a16:creationId xmlns:a16="http://schemas.microsoft.com/office/drawing/2014/main" id="{B8D9C126-ACA8-504F-278A-6EC064BBFC75}"/>
              </a:ext>
            </a:extLst>
          </p:cNvPr>
          <p:cNvSpPr/>
          <p:nvPr/>
        </p:nvSpPr>
        <p:spPr>
          <a:xfrm>
            <a:off x="489174" y="771035"/>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lnSpc>
                <a:spcPct val="96985"/>
              </a:lnSpc>
            </a:pPr>
            <a:r>
              <a:rPr lang="en-US" sz="2800" b="1">
                <a:solidFill>
                  <a:srgbClr val="526001"/>
                </a:solidFill>
                <a:latin typeface="Ink Free" panose="03080402000500000000" pitchFamily="66" charset="0"/>
                <a:ea typeface="Roboto"/>
                <a:cs typeface="Roboto"/>
              </a:rPr>
              <a:t>Read and format sample data</a:t>
            </a:r>
          </a:p>
        </p:txBody>
      </p:sp>
    </p:spTree>
    <p:extLst>
      <p:ext uri="{BB962C8B-B14F-4D97-AF65-F5344CB8AC3E}">
        <p14:creationId xmlns:p14="http://schemas.microsoft.com/office/powerpoint/2010/main" val="397638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718A5-A919-CCA9-9AE6-AD29E0758C3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05895EF-B23A-9230-9CE3-57BEBBE5CBE1}"/>
              </a:ext>
            </a:extLst>
          </p:cNvPr>
          <p:cNvPicPr>
            <a:picLocks noChangeAspect="1"/>
          </p:cNvPicPr>
          <p:nvPr/>
        </p:nvPicPr>
        <p:blipFill>
          <a:blip r:embed="rId3"/>
          <a:srcRect r="37533"/>
          <a:stretch>
            <a:fillRect/>
          </a:stretch>
        </p:blipFill>
        <p:spPr>
          <a:xfrm>
            <a:off x="3432813" y="1064302"/>
            <a:ext cx="8361790" cy="5598796"/>
          </a:xfrm>
          <a:prstGeom prst="rect">
            <a:avLst/>
          </a:prstGeom>
        </p:spPr>
      </p:pic>
      <p:sp>
        <p:nvSpPr>
          <p:cNvPr id="6" name="Title 1">
            <a:extLst>
              <a:ext uri="{FF2B5EF4-FFF2-40B4-BE49-F238E27FC236}">
                <a16:creationId xmlns:a16="http://schemas.microsoft.com/office/drawing/2014/main" id="{A15524B2-38BC-FCFD-BA94-7FD9DE190B37}"/>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3| What’s a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a:t>
            </a:r>
          </a:p>
        </p:txBody>
      </p:sp>
      <p:sp>
        <p:nvSpPr>
          <p:cNvPr id="5" name="Content Placeholder 2">
            <a:extLst>
              <a:ext uri="{FF2B5EF4-FFF2-40B4-BE49-F238E27FC236}">
                <a16:creationId xmlns:a16="http://schemas.microsoft.com/office/drawing/2014/main" id="{D705D74D-BC8C-CB99-8ECF-2AE58E19EBF6}"/>
              </a:ext>
            </a:extLst>
          </p:cNvPr>
          <p:cNvSpPr>
            <a:spLocks noGrp="1"/>
          </p:cNvSpPr>
          <p:nvPr>
            <p:ph idx="1"/>
          </p:nvPr>
        </p:nvSpPr>
        <p:spPr>
          <a:xfrm>
            <a:off x="244997" y="1238489"/>
            <a:ext cx="12203320" cy="5424609"/>
          </a:xfrm>
        </p:spPr>
        <p:txBody>
          <a:bodyPr vert="horz" lIns="91440" tIns="45720" rIns="91440" bIns="45720" rtlCol="0" anchor="t">
            <a:normAutofit/>
          </a:bodyPr>
          <a:lstStyle/>
          <a:p>
            <a:pPr marL="0" indent="0">
              <a:buNone/>
            </a:pPr>
            <a:r>
              <a:rPr lang="en-US">
                <a:latin typeface="Roboto" panose="02000000000000000000" pitchFamily="2" charset="0"/>
                <a:ea typeface="Roboto" panose="02000000000000000000" pitchFamily="2" charset="0"/>
                <a:cs typeface="Roboto" panose="02000000000000000000" pitchFamily="2" charset="0"/>
              </a:rPr>
              <a:t> </a:t>
            </a:r>
          </a:p>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538443FE-78D8-986C-073B-EFEC7CB3EBF9}"/>
              </a:ext>
            </a:extLst>
          </p:cNvPr>
          <p:cNvSpPr txBox="1">
            <a:spLocks/>
          </p:cNvSpPr>
          <p:nvPr/>
        </p:nvSpPr>
        <p:spPr>
          <a:xfrm>
            <a:off x="397397" y="1390889"/>
            <a:ext cx="12203320" cy="542460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Roboto" panose="02000000000000000000" pitchFamily="2" charset="0"/>
                <a:ea typeface="Roboto" panose="02000000000000000000" pitchFamily="2" charset="0"/>
                <a:cs typeface="Roboto" panose="02000000000000000000" pitchFamily="2" charset="0"/>
              </a:rPr>
              <a:t>➪ Grammar of graphics</a:t>
            </a:r>
          </a:p>
        </p:txBody>
      </p:sp>
      <p:pic>
        <p:nvPicPr>
          <p:cNvPr id="10" name="Picture 9">
            <a:extLst>
              <a:ext uri="{FF2B5EF4-FFF2-40B4-BE49-F238E27FC236}">
                <a16:creationId xmlns:a16="http://schemas.microsoft.com/office/drawing/2014/main" id="{A73F1EAE-5E5F-7BEC-6871-50DB84D90FB6}"/>
              </a:ext>
            </a:extLst>
          </p:cNvPr>
          <p:cNvPicPr>
            <a:picLocks noChangeAspect="1"/>
          </p:cNvPicPr>
          <p:nvPr/>
        </p:nvPicPr>
        <p:blipFill>
          <a:blip r:embed="rId4">
            <a:extLst>
              <a:ext uri="{28A0092B-C50C-407E-A947-70E740481C1C}">
                <a14:useLocalDpi xmlns:a14="http://schemas.microsoft.com/office/drawing/2010/main" val="0"/>
              </a:ext>
            </a:extLst>
          </a:blip>
          <a:srcRect t="4205" b="2518"/>
          <a:stretch>
            <a:fillRect/>
          </a:stretch>
        </p:blipFill>
        <p:spPr>
          <a:xfrm>
            <a:off x="397397" y="2767876"/>
            <a:ext cx="5187477" cy="2191647"/>
          </a:xfrm>
          <a:prstGeom prst="rect">
            <a:avLst/>
          </a:prstGeom>
        </p:spPr>
      </p:pic>
    </p:spTree>
    <p:extLst>
      <p:ext uri="{BB962C8B-B14F-4D97-AF65-F5344CB8AC3E}">
        <p14:creationId xmlns:p14="http://schemas.microsoft.com/office/powerpoint/2010/main" val="4041111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BB2FB-D3DF-713D-D5F1-34E2B6DA380E}"/>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95E62697-DBE9-FAAD-441E-035282D15AD9}"/>
              </a:ext>
            </a:extLst>
          </p:cNvPr>
          <p:cNvPicPr>
            <a:picLocks noChangeAspect="1"/>
          </p:cNvPicPr>
          <p:nvPr/>
        </p:nvPicPr>
        <p:blipFill>
          <a:blip r:embed="rId4"/>
          <a:stretch>
            <a:fillRect/>
          </a:stretch>
        </p:blipFill>
        <p:spPr>
          <a:xfrm>
            <a:off x="1050" y="2206048"/>
            <a:ext cx="11122099" cy="4651952"/>
          </a:xfrm>
          <a:prstGeom prst="rect">
            <a:avLst/>
          </a:prstGeom>
        </p:spPr>
      </p:pic>
      <p:sp>
        <p:nvSpPr>
          <p:cNvPr id="6" name="Title 1">
            <a:extLst>
              <a:ext uri="{FF2B5EF4-FFF2-40B4-BE49-F238E27FC236}">
                <a16:creationId xmlns:a16="http://schemas.microsoft.com/office/drawing/2014/main" id="{410F8C8B-1293-89E0-1B42-D8EDFCD27E4B}"/>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4| Your first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endParaRPr lang="en-US" sz="4000">
              <a:solidFill>
                <a:srgbClr val="526001"/>
              </a:solidFill>
              <a:latin typeface="Roboto" panose="02000000000000000000" pitchFamily="2" charset="0"/>
              <a:ea typeface="Roboto" panose="02000000000000000000" pitchFamily="2" charset="0"/>
              <a:cs typeface="Roboto" panose="02000000000000000000" pitchFamily="2" charset="0"/>
            </a:endParaRPr>
          </a:p>
        </p:txBody>
      </p:sp>
      <p:pic>
        <p:nvPicPr>
          <p:cNvPr id="30" name="Image 0" descr="preencoded.png">
            <a:extLst>
              <a:ext uri="{FF2B5EF4-FFF2-40B4-BE49-F238E27FC236}">
                <a16:creationId xmlns:a16="http://schemas.microsoft.com/office/drawing/2014/main" id="{A3D56ED7-6FE3-8450-87D5-705B4DEFAD15}"/>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4" name="Text 0">
            <a:extLst>
              <a:ext uri="{FF2B5EF4-FFF2-40B4-BE49-F238E27FC236}">
                <a16:creationId xmlns:a16="http://schemas.microsoft.com/office/drawing/2014/main" id="{4847C704-ED2F-9B71-519E-8EAF9579D230}"/>
              </a:ext>
            </a:extLst>
          </p:cNvPr>
          <p:cNvSpPr/>
          <p:nvPr/>
        </p:nvSpPr>
        <p:spPr>
          <a:xfrm>
            <a:off x="361243" y="1238491"/>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Step 1: Passing your data to </a:t>
            </a:r>
            <a:r>
              <a:rPr lang="en-AU" sz="2800" b="1" err="1">
                <a:solidFill>
                  <a:srgbClr val="526001"/>
                </a:solidFill>
                <a:latin typeface="Ink Free" panose="03080402000500000000" pitchFamily="66" charset="0"/>
              </a:rPr>
              <a:t>ggplot</a:t>
            </a:r>
            <a:r>
              <a:rPr lang="en-AU" sz="2800" b="1">
                <a:solidFill>
                  <a:srgbClr val="526001"/>
                </a:solidFill>
                <a:latin typeface="Ink Free" panose="03080402000500000000" pitchFamily="66" charset="0"/>
              </a:rPr>
              <a:t>() and mapping variables with </a:t>
            </a:r>
            <a:r>
              <a:rPr lang="en-AU" sz="2800" b="1" err="1">
                <a:solidFill>
                  <a:srgbClr val="526001"/>
                </a:solidFill>
                <a:latin typeface="Ink Free" panose="03080402000500000000" pitchFamily="66" charset="0"/>
              </a:rPr>
              <a:t>aes</a:t>
            </a:r>
            <a:r>
              <a:rPr lang="en-AU" sz="2800" b="1">
                <a:solidFill>
                  <a:srgbClr val="526001"/>
                </a:solidFill>
                <a:latin typeface="Ink Free" panose="03080402000500000000" pitchFamily="66" charset="0"/>
              </a:rPr>
              <a:t>()</a:t>
            </a:r>
          </a:p>
        </p:txBody>
      </p:sp>
    </p:spTree>
    <p:extLst>
      <p:ext uri="{BB962C8B-B14F-4D97-AF65-F5344CB8AC3E}">
        <p14:creationId xmlns:p14="http://schemas.microsoft.com/office/powerpoint/2010/main" val="1931621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55EED-743B-D468-E5A2-9ECF7B4BFD04}"/>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DEC08D13-B81B-747F-F7A8-D752D99BDB12}"/>
              </a:ext>
            </a:extLst>
          </p:cNvPr>
          <p:cNvPicPr>
            <a:picLocks noChangeAspect="1"/>
          </p:cNvPicPr>
          <p:nvPr/>
        </p:nvPicPr>
        <p:blipFill>
          <a:blip r:embed="rId4"/>
          <a:stretch>
            <a:fillRect/>
          </a:stretch>
        </p:blipFill>
        <p:spPr>
          <a:xfrm>
            <a:off x="1050" y="2206048"/>
            <a:ext cx="11122099" cy="4651952"/>
          </a:xfrm>
          <a:prstGeom prst="rect">
            <a:avLst/>
          </a:prstGeom>
        </p:spPr>
      </p:pic>
      <p:sp>
        <p:nvSpPr>
          <p:cNvPr id="6" name="Title 1">
            <a:extLst>
              <a:ext uri="{FF2B5EF4-FFF2-40B4-BE49-F238E27FC236}">
                <a16:creationId xmlns:a16="http://schemas.microsoft.com/office/drawing/2014/main" id="{3E8D904A-D01D-B4E4-BA23-FCD006FB6A59}"/>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4| Your first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endParaRPr lang="en-US" sz="4000">
              <a:solidFill>
                <a:srgbClr val="526001"/>
              </a:solidFill>
              <a:latin typeface="Roboto" panose="02000000000000000000" pitchFamily="2" charset="0"/>
              <a:ea typeface="Roboto" panose="02000000000000000000" pitchFamily="2" charset="0"/>
              <a:cs typeface="Roboto" panose="02000000000000000000" pitchFamily="2" charset="0"/>
            </a:endParaRPr>
          </a:p>
        </p:txBody>
      </p:sp>
      <p:pic>
        <p:nvPicPr>
          <p:cNvPr id="30" name="Image 0" descr="preencoded.png">
            <a:extLst>
              <a:ext uri="{FF2B5EF4-FFF2-40B4-BE49-F238E27FC236}">
                <a16:creationId xmlns:a16="http://schemas.microsoft.com/office/drawing/2014/main" id="{6E0DF346-F87A-1E24-DD60-74228F0A953C}"/>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4" name="Text 0">
            <a:extLst>
              <a:ext uri="{FF2B5EF4-FFF2-40B4-BE49-F238E27FC236}">
                <a16:creationId xmlns:a16="http://schemas.microsoft.com/office/drawing/2014/main" id="{C919DCEE-91C1-C418-2B47-C095E4923449}"/>
              </a:ext>
            </a:extLst>
          </p:cNvPr>
          <p:cNvSpPr/>
          <p:nvPr/>
        </p:nvSpPr>
        <p:spPr>
          <a:xfrm>
            <a:off x="361243" y="1238491"/>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Step 1: Passing your data to </a:t>
            </a:r>
            <a:r>
              <a:rPr lang="en-AU" sz="2800" b="1" err="1">
                <a:solidFill>
                  <a:srgbClr val="526001"/>
                </a:solidFill>
                <a:latin typeface="Ink Free" panose="03080402000500000000" pitchFamily="66" charset="0"/>
              </a:rPr>
              <a:t>ggplot</a:t>
            </a:r>
            <a:r>
              <a:rPr lang="en-AU" sz="2800" b="1">
                <a:solidFill>
                  <a:srgbClr val="526001"/>
                </a:solidFill>
                <a:latin typeface="Ink Free" panose="03080402000500000000" pitchFamily="66" charset="0"/>
              </a:rPr>
              <a:t>() and mapping variables with </a:t>
            </a:r>
            <a:r>
              <a:rPr lang="en-AU" sz="2800" b="1" err="1">
                <a:solidFill>
                  <a:srgbClr val="526001"/>
                </a:solidFill>
                <a:latin typeface="Ink Free" panose="03080402000500000000" pitchFamily="66" charset="0"/>
              </a:rPr>
              <a:t>aes</a:t>
            </a:r>
            <a:r>
              <a:rPr lang="en-AU" sz="2800" b="1">
                <a:solidFill>
                  <a:srgbClr val="526001"/>
                </a:solidFill>
                <a:latin typeface="Ink Free" panose="03080402000500000000" pitchFamily="66" charset="0"/>
              </a:rPr>
              <a:t>()</a:t>
            </a:r>
          </a:p>
        </p:txBody>
      </p:sp>
      <p:pic>
        <p:nvPicPr>
          <p:cNvPr id="2" name="Picture 1">
            <a:extLst>
              <a:ext uri="{FF2B5EF4-FFF2-40B4-BE49-F238E27FC236}">
                <a16:creationId xmlns:a16="http://schemas.microsoft.com/office/drawing/2014/main" id="{FACB4600-562C-7762-1ECA-DCF98C0491C5}"/>
              </a:ext>
            </a:extLst>
          </p:cNvPr>
          <p:cNvPicPr>
            <a:picLocks noChangeAspect="1"/>
          </p:cNvPicPr>
          <p:nvPr/>
        </p:nvPicPr>
        <p:blipFill>
          <a:blip r:embed="rId6"/>
          <a:stretch>
            <a:fillRect/>
          </a:stretch>
        </p:blipFill>
        <p:spPr>
          <a:xfrm>
            <a:off x="-1" y="2207732"/>
            <a:ext cx="11122099" cy="4651952"/>
          </a:xfrm>
          <a:prstGeom prst="rect">
            <a:avLst/>
          </a:prstGeom>
        </p:spPr>
      </p:pic>
    </p:spTree>
    <p:extLst>
      <p:ext uri="{BB962C8B-B14F-4D97-AF65-F5344CB8AC3E}">
        <p14:creationId xmlns:p14="http://schemas.microsoft.com/office/powerpoint/2010/main" val="1173351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42BB-59AC-8BEF-30F3-7BA6CBF920D0}"/>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AAC21A2F-6FDC-C234-26FF-E8A306A35AD8}"/>
              </a:ext>
            </a:extLst>
          </p:cNvPr>
          <p:cNvPicPr>
            <a:picLocks noChangeAspect="1"/>
          </p:cNvPicPr>
          <p:nvPr/>
        </p:nvPicPr>
        <p:blipFill>
          <a:blip r:embed="rId4"/>
          <a:stretch>
            <a:fillRect/>
          </a:stretch>
        </p:blipFill>
        <p:spPr>
          <a:xfrm>
            <a:off x="1050" y="2206048"/>
            <a:ext cx="11122099" cy="4651952"/>
          </a:xfrm>
          <a:prstGeom prst="rect">
            <a:avLst/>
          </a:prstGeom>
        </p:spPr>
      </p:pic>
      <p:sp>
        <p:nvSpPr>
          <p:cNvPr id="6" name="Title 1">
            <a:extLst>
              <a:ext uri="{FF2B5EF4-FFF2-40B4-BE49-F238E27FC236}">
                <a16:creationId xmlns:a16="http://schemas.microsoft.com/office/drawing/2014/main" id="{F7858197-A215-304E-3727-DECC08B61F9A}"/>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4| Your first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endParaRPr lang="en-US" sz="4000">
              <a:solidFill>
                <a:srgbClr val="526001"/>
              </a:solidFill>
              <a:latin typeface="Roboto" panose="02000000000000000000" pitchFamily="2" charset="0"/>
              <a:ea typeface="Roboto" panose="02000000000000000000" pitchFamily="2" charset="0"/>
              <a:cs typeface="Roboto" panose="02000000000000000000" pitchFamily="2" charset="0"/>
            </a:endParaRPr>
          </a:p>
        </p:txBody>
      </p:sp>
      <p:pic>
        <p:nvPicPr>
          <p:cNvPr id="30" name="Image 0" descr="preencoded.png">
            <a:extLst>
              <a:ext uri="{FF2B5EF4-FFF2-40B4-BE49-F238E27FC236}">
                <a16:creationId xmlns:a16="http://schemas.microsoft.com/office/drawing/2014/main" id="{5E90F467-5BBF-5524-B278-0D839F934793}"/>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4" name="Text 0">
            <a:extLst>
              <a:ext uri="{FF2B5EF4-FFF2-40B4-BE49-F238E27FC236}">
                <a16:creationId xmlns:a16="http://schemas.microsoft.com/office/drawing/2014/main" id="{92A58CD7-FEA5-533E-696C-9EEEF7E9C799}"/>
              </a:ext>
            </a:extLst>
          </p:cNvPr>
          <p:cNvSpPr/>
          <p:nvPr/>
        </p:nvSpPr>
        <p:spPr>
          <a:xfrm>
            <a:off x="361243" y="1238491"/>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Step 2: Choosing a </a:t>
            </a:r>
            <a:r>
              <a:rPr lang="en-AU" sz="2800" b="1" err="1">
                <a:solidFill>
                  <a:srgbClr val="526001"/>
                </a:solidFill>
                <a:latin typeface="Ink Free" panose="03080402000500000000" pitchFamily="66" charset="0"/>
              </a:rPr>
              <a:t>geom</a:t>
            </a:r>
            <a:r>
              <a:rPr lang="en-AU" sz="2800" b="1">
                <a:solidFill>
                  <a:srgbClr val="526001"/>
                </a:solidFill>
                <a:latin typeface="Ink Free" panose="03080402000500000000" pitchFamily="66" charset="0"/>
              </a:rPr>
              <a:t> function - what kind of plot do you want to make?</a:t>
            </a:r>
          </a:p>
        </p:txBody>
      </p:sp>
      <p:pic>
        <p:nvPicPr>
          <p:cNvPr id="2" name="Picture 1">
            <a:extLst>
              <a:ext uri="{FF2B5EF4-FFF2-40B4-BE49-F238E27FC236}">
                <a16:creationId xmlns:a16="http://schemas.microsoft.com/office/drawing/2014/main" id="{96430A2A-27A3-9150-D8AD-8D327DB38888}"/>
              </a:ext>
            </a:extLst>
          </p:cNvPr>
          <p:cNvPicPr>
            <a:picLocks noChangeAspect="1"/>
          </p:cNvPicPr>
          <p:nvPr/>
        </p:nvPicPr>
        <p:blipFill>
          <a:blip r:embed="rId6"/>
          <a:stretch>
            <a:fillRect/>
          </a:stretch>
        </p:blipFill>
        <p:spPr>
          <a:xfrm>
            <a:off x="-1" y="2207732"/>
            <a:ext cx="11122099" cy="4651952"/>
          </a:xfrm>
          <a:prstGeom prst="rect">
            <a:avLst/>
          </a:prstGeom>
        </p:spPr>
      </p:pic>
      <p:pic>
        <p:nvPicPr>
          <p:cNvPr id="3" name="Picture 2">
            <a:extLst>
              <a:ext uri="{FF2B5EF4-FFF2-40B4-BE49-F238E27FC236}">
                <a16:creationId xmlns:a16="http://schemas.microsoft.com/office/drawing/2014/main" id="{EA4322CC-E1AD-653B-3B77-9B519A681FA1}"/>
              </a:ext>
            </a:extLst>
          </p:cNvPr>
          <p:cNvPicPr>
            <a:picLocks noChangeAspect="1"/>
          </p:cNvPicPr>
          <p:nvPr/>
        </p:nvPicPr>
        <p:blipFill>
          <a:blip r:embed="rId7"/>
          <a:stretch>
            <a:fillRect/>
          </a:stretch>
        </p:blipFill>
        <p:spPr>
          <a:xfrm>
            <a:off x="-1052" y="2206891"/>
            <a:ext cx="11122098" cy="4651952"/>
          </a:xfrm>
          <a:prstGeom prst="rect">
            <a:avLst/>
          </a:prstGeom>
        </p:spPr>
      </p:pic>
    </p:spTree>
    <p:extLst>
      <p:ext uri="{BB962C8B-B14F-4D97-AF65-F5344CB8AC3E}">
        <p14:creationId xmlns:p14="http://schemas.microsoft.com/office/powerpoint/2010/main" val="2860795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029F0-07C2-1439-2951-59CFFD7E800A}"/>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4CEB214C-32D3-6685-98B2-45CF78FDB6C8}"/>
              </a:ext>
            </a:extLst>
          </p:cNvPr>
          <p:cNvPicPr>
            <a:picLocks noChangeAspect="1"/>
          </p:cNvPicPr>
          <p:nvPr/>
        </p:nvPicPr>
        <p:blipFill>
          <a:blip r:embed="rId4"/>
          <a:stretch>
            <a:fillRect/>
          </a:stretch>
        </p:blipFill>
        <p:spPr>
          <a:xfrm>
            <a:off x="1050" y="2206048"/>
            <a:ext cx="11122099" cy="4651952"/>
          </a:xfrm>
          <a:prstGeom prst="rect">
            <a:avLst/>
          </a:prstGeom>
        </p:spPr>
      </p:pic>
      <p:sp>
        <p:nvSpPr>
          <p:cNvPr id="6" name="Title 1">
            <a:extLst>
              <a:ext uri="{FF2B5EF4-FFF2-40B4-BE49-F238E27FC236}">
                <a16:creationId xmlns:a16="http://schemas.microsoft.com/office/drawing/2014/main" id="{3707EAF6-AEC9-EFFA-07E4-78751016A16F}"/>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4| Your first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endParaRPr lang="en-US" sz="4000">
              <a:solidFill>
                <a:srgbClr val="526001"/>
              </a:solidFill>
              <a:latin typeface="Roboto" panose="02000000000000000000" pitchFamily="2" charset="0"/>
              <a:ea typeface="Roboto" panose="02000000000000000000" pitchFamily="2" charset="0"/>
              <a:cs typeface="Roboto" panose="02000000000000000000" pitchFamily="2" charset="0"/>
            </a:endParaRPr>
          </a:p>
        </p:txBody>
      </p:sp>
      <p:pic>
        <p:nvPicPr>
          <p:cNvPr id="30" name="Image 0" descr="preencoded.png">
            <a:extLst>
              <a:ext uri="{FF2B5EF4-FFF2-40B4-BE49-F238E27FC236}">
                <a16:creationId xmlns:a16="http://schemas.microsoft.com/office/drawing/2014/main" id="{D6428FC9-24C3-C91E-C56E-10468BD96868}"/>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4" name="Text 0">
            <a:extLst>
              <a:ext uri="{FF2B5EF4-FFF2-40B4-BE49-F238E27FC236}">
                <a16:creationId xmlns:a16="http://schemas.microsoft.com/office/drawing/2014/main" id="{71CA6F53-8452-57EF-E267-4C063DF7A72F}"/>
              </a:ext>
            </a:extLst>
          </p:cNvPr>
          <p:cNvSpPr/>
          <p:nvPr/>
        </p:nvSpPr>
        <p:spPr>
          <a:xfrm>
            <a:off x="361243" y="1238491"/>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Step 3: The scale functions</a:t>
            </a:r>
          </a:p>
        </p:txBody>
      </p:sp>
      <p:pic>
        <p:nvPicPr>
          <p:cNvPr id="2" name="Picture 1">
            <a:extLst>
              <a:ext uri="{FF2B5EF4-FFF2-40B4-BE49-F238E27FC236}">
                <a16:creationId xmlns:a16="http://schemas.microsoft.com/office/drawing/2014/main" id="{86730040-FB51-21C2-EEFE-01B29259CD55}"/>
              </a:ext>
            </a:extLst>
          </p:cNvPr>
          <p:cNvPicPr>
            <a:picLocks noChangeAspect="1"/>
          </p:cNvPicPr>
          <p:nvPr/>
        </p:nvPicPr>
        <p:blipFill>
          <a:blip r:embed="rId6"/>
          <a:stretch>
            <a:fillRect/>
          </a:stretch>
        </p:blipFill>
        <p:spPr>
          <a:xfrm>
            <a:off x="-1" y="2207732"/>
            <a:ext cx="11122099" cy="4651952"/>
          </a:xfrm>
          <a:prstGeom prst="rect">
            <a:avLst/>
          </a:prstGeom>
        </p:spPr>
      </p:pic>
      <p:pic>
        <p:nvPicPr>
          <p:cNvPr id="3" name="Picture 2">
            <a:extLst>
              <a:ext uri="{FF2B5EF4-FFF2-40B4-BE49-F238E27FC236}">
                <a16:creationId xmlns:a16="http://schemas.microsoft.com/office/drawing/2014/main" id="{ACC32A2F-2A2E-83C4-F6ED-6EC7C04D108E}"/>
              </a:ext>
            </a:extLst>
          </p:cNvPr>
          <p:cNvPicPr>
            <a:picLocks noChangeAspect="1"/>
          </p:cNvPicPr>
          <p:nvPr/>
        </p:nvPicPr>
        <p:blipFill>
          <a:blip r:embed="rId7"/>
          <a:stretch>
            <a:fillRect/>
          </a:stretch>
        </p:blipFill>
        <p:spPr>
          <a:xfrm>
            <a:off x="-1052" y="2206891"/>
            <a:ext cx="11122098" cy="4651952"/>
          </a:xfrm>
          <a:prstGeom prst="rect">
            <a:avLst/>
          </a:prstGeom>
        </p:spPr>
      </p:pic>
      <p:pic>
        <p:nvPicPr>
          <p:cNvPr id="7" name="Picture 6">
            <a:extLst>
              <a:ext uri="{FF2B5EF4-FFF2-40B4-BE49-F238E27FC236}">
                <a16:creationId xmlns:a16="http://schemas.microsoft.com/office/drawing/2014/main" id="{5049312C-739B-CD1E-35E8-6A04DE71FB0D}"/>
              </a:ext>
            </a:extLst>
          </p:cNvPr>
          <p:cNvPicPr>
            <a:picLocks noChangeAspect="1"/>
          </p:cNvPicPr>
          <p:nvPr/>
        </p:nvPicPr>
        <p:blipFill>
          <a:blip r:embed="rId8"/>
          <a:stretch>
            <a:fillRect/>
          </a:stretch>
        </p:blipFill>
        <p:spPr>
          <a:xfrm>
            <a:off x="0" y="2211624"/>
            <a:ext cx="11121046" cy="4651511"/>
          </a:xfrm>
          <a:prstGeom prst="rect">
            <a:avLst/>
          </a:prstGeom>
        </p:spPr>
      </p:pic>
    </p:spTree>
    <p:extLst>
      <p:ext uri="{BB962C8B-B14F-4D97-AF65-F5344CB8AC3E}">
        <p14:creationId xmlns:p14="http://schemas.microsoft.com/office/powerpoint/2010/main" val="1068114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F0C6F-9B2F-DED7-0643-B390C368C3EA}"/>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AE599BD8-5891-97E6-B8A0-EC9CDE36D8A1}"/>
              </a:ext>
            </a:extLst>
          </p:cNvPr>
          <p:cNvPicPr>
            <a:picLocks noChangeAspect="1"/>
          </p:cNvPicPr>
          <p:nvPr/>
        </p:nvPicPr>
        <p:blipFill>
          <a:blip r:embed="rId4"/>
          <a:stretch>
            <a:fillRect/>
          </a:stretch>
        </p:blipFill>
        <p:spPr>
          <a:xfrm>
            <a:off x="1050" y="2206048"/>
            <a:ext cx="11122099" cy="4651952"/>
          </a:xfrm>
          <a:prstGeom prst="rect">
            <a:avLst/>
          </a:prstGeom>
        </p:spPr>
      </p:pic>
      <p:sp>
        <p:nvSpPr>
          <p:cNvPr id="6" name="Title 1">
            <a:extLst>
              <a:ext uri="{FF2B5EF4-FFF2-40B4-BE49-F238E27FC236}">
                <a16:creationId xmlns:a16="http://schemas.microsoft.com/office/drawing/2014/main" id="{6F8DE40B-B6D6-3B90-0D49-1427B63B3876}"/>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4| Your first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endParaRPr lang="en-US" sz="4000">
              <a:solidFill>
                <a:srgbClr val="526001"/>
              </a:solidFill>
              <a:latin typeface="Roboto" panose="02000000000000000000" pitchFamily="2" charset="0"/>
              <a:ea typeface="Roboto" panose="02000000000000000000" pitchFamily="2" charset="0"/>
              <a:cs typeface="Roboto" panose="02000000000000000000" pitchFamily="2" charset="0"/>
            </a:endParaRPr>
          </a:p>
        </p:txBody>
      </p:sp>
      <p:pic>
        <p:nvPicPr>
          <p:cNvPr id="30" name="Image 0" descr="preencoded.png">
            <a:extLst>
              <a:ext uri="{FF2B5EF4-FFF2-40B4-BE49-F238E27FC236}">
                <a16:creationId xmlns:a16="http://schemas.microsoft.com/office/drawing/2014/main" id="{41346B27-7D2B-41A1-B949-EF9FB8F6C481}"/>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4" name="Text 0">
            <a:extLst>
              <a:ext uri="{FF2B5EF4-FFF2-40B4-BE49-F238E27FC236}">
                <a16:creationId xmlns:a16="http://schemas.microsoft.com/office/drawing/2014/main" id="{447FCF0C-A183-705D-7431-3D08E64603A1}"/>
              </a:ext>
            </a:extLst>
          </p:cNvPr>
          <p:cNvSpPr/>
          <p:nvPr/>
        </p:nvSpPr>
        <p:spPr>
          <a:xfrm>
            <a:off x="361243" y="1238491"/>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Step 4: Themes! (and labels and coord())</a:t>
            </a:r>
          </a:p>
        </p:txBody>
      </p:sp>
      <p:pic>
        <p:nvPicPr>
          <p:cNvPr id="2" name="Picture 1">
            <a:extLst>
              <a:ext uri="{FF2B5EF4-FFF2-40B4-BE49-F238E27FC236}">
                <a16:creationId xmlns:a16="http://schemas.microsoft.com/office/drawing/2014/main" id="{0DA87890-0F7A-A83F-ED7B-1BF969815CD0}"/>
              </a:ext>
            </a:extLst>
          </p:cNvPr>
          <p:cNvPicPr>
            <a:picLocks noChangeAspect="1"/>
          </p:cNvPicPr>
          <p:nvPr/>
        </p:nvPicPr>
        <p:blipFill>
          <a:blip r:embed="rId6"/>
          <a:stretch>
            <a:fillRect/>
          </a:stretch>
        </p:blipFill>
        <p:spPr>
          <a:xfrm>
            <a:off x="-1" y="2207732"/>
            <a:ext cx="11122099" cy="4651952"/>
          </a:xfrm>
          <a:prstGeom prst="rect">
            <a:avLst/>
          </a:prstGeom>
        </p:spPr>
      </p:pic>
      <p:pic>
        <p:nvPicPr>
          <p:cNvPr id="3" name="Picture 2">
            <a:extLst>
              <a:ext uri="{FF2B5EF4-FFF2-40B4-BE49-F238E27FC236}">
                <a16:creationId xmlns:a16="http://schemas.microsoft.com/office/drawing/2014/main" id="{32538E71-7054-932C-A99E-565FC018C2D8}"/>
              </a:ext>
            </a:extLst>
          </p:cNvPr>
          <p:cNvPicPr>
            <a:picLocks noChangeAspect="1"/>
          </p:cNvPicPr>
          <p:nvPr/>
        </p:nvPicPr>
        <p:blipFill>
          <a:blip r:embed="rId7"/>
          <a:stretch>
            <a:fillRect/>
          </a:stretch>
        </p:blipFill>
        <p:spPr>
          <a:xfrm>
            <a:off x="-1052" y="2206891"/>
            <a:ext cx="11122098" cy="4651952"/>
          </a:xfrm>
          <a:prstGeom prst="rect">
            <a:avLst/>
          </a:prstGeom>
        </p:spPr>
      </p:pic>
      <p:pic>
        <p:nvPicPr>
          <p:cNvPr id="7" name="Picture 6">
            <a:extLst>
              <a:ext uri="{FF2B5EF4-FFF2-40B4-BE49-F238E27FC236}">
                <a16:creationId xmlns:a16="http://schemas.microsoft.com/office/drawing/2014/main" id="{11604203-1CCA-A5F1-722A-D3ECD056C36F}"/>
              </a:ext>
            </a:extLst>
          </p:cNvPr>
          <p:cNvPicPr>
            <a:picLocks noChangeAspect="1"/>
          </p:cNvPicPr>
          <p:nvPr/>
        </p:nvPicPr>
        <p:blipFill>
          <a:blip r:embed="rId8"/>
          <a:stretch>
            <a:fillRect/>
          </a:stretch>
        </p:blipFill>
        <p:spPr>
          <a:xfrm>
            <a:off x="0" y="2211624"/>
            <a:ext cx="11121046" cy="4651511"/>
          </a:xfrm>
          <a:prstGeom prst="rect">
            <a:avLst/>
          </a:prstGeom>
        </p:spPr>
      </p:pic>
      <p:pic>
        <p:nvPicPr>
          <p:cNvPr id="5" name="Picture 4">
            <a:extLst>
              <a:ext uri="{FF2B5EF4-FFF2-40B4-BE49-F238E27FC236}">
                <a16:creationId xmlns:a16="http://schemas.microsoft.com/office/drawing/2014/main" id="{92C2A6EC-3DBE-67C6-78A8-4B3D4F9A1E2F}"/>
              </a:ext>
            </a:extLst>
          </p:cNvPr>
          <p:cNvPicPr>
            <a:picLocks noChangeAspect="1"/>
          </p:cNvPicPr>
          <p:nvPr/>
        </p:nvPicPr>
        <p:blipFill>
          <a:blip r:embed="rId9"/>
          <a:stretch>
            <a:fillRect/>
          </a:stretch>
        </p:blipFill>
        <p:spPr>
          <a:xfrm>
            <a:off x="-3155" y="2206027"/>
            <a:ext cx="11121046" cy="4651511"/>
          </a:xfrm>
          <a:prstGeom prst="rect">
            <a:avLst/>
          </a:prstGeom>
        </p:spPr>
      </p:pic>
      <p:sp>
        <p:nvSpPr>
          <p:cNvPr id="8" name="Text 0">
            <a:extLst>
              <a:ext uri="{FF2B5EF4-FFF2-40B4-BE49-F238E27FC236}">
                <a16:creationId xmlns:a16="http://schemas.microsoft.com/office/drawing/2014/main" id="{795296F7-0A7E-C38E-0F47-B679DE3326E4}"/>
              </a:ext>
            </a:extLst>
          </p:cNvPr>
          <p:cNvSpPr/>
          <p:nvPr/>
        </p:nvSpPr>
        <p:spPr>
          <a:xfrm>
            <a:off x="-4182535" y="3393255"/>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Extra 1</a:t>
            </a:r>
          </a:p>
        </p:txBody>
      </p:sp>
    </p:spTree>
    <p:extLst>
      <p:ext uri="{BB962C8B-B14F-4D97-AF65-F5344CB8AC3E}">
        <p14:creationId xmlns:p14="http://schemas.microsoft.com/office/powerpoint/2010/main" val="424819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B5BF9-30E4-17EF-7D37-4B5A979EF6AD}"/>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70775781-7515-2FBF-5C51-C471DC7A0E92}"/>
              </a:ext>
            </a:extLst>
          </p:cNvPr>
          <p:cNvPicPr>
            <a:picLocks noChangeAspect="1"/>
          </p:cNvPicPr>
          <p:nvPr/>
        </p:nvPicPr>
        <p:blipFill>
          <a:blip r:embed="rId4"/>
          <a:stretch>
            <a:fillRect/>
          </a:stretch>
        </p:blipFill>
        <p:spPr>
          <a:xfrm>
            <a:off x="1050" y="2206048"/>
            <a:ext cx="11122099" cy="4651952"/>
          </a:xfrm>
          <a:prstGeom prst="rect">
            <a:avLst/>
          </a:prstGeom>
        </p:spPr>
      </p:pic>
      <p:sp>
        <p:nvSpPr>
          <p:cNvPr id="6" name="Title 1">
            <a:extLst>
              <a:ext uri="{FF2B5EF4-FFF2-40B4-BE49-F238E27FC236}">
                <a16:creationId xmlns:a16="http://schemas.microsoft.com/office/drawing/2014/main" id="{3183DDC8-C0AD-F947-E34A-84718B21118F}"/>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4| Your first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endParaRPr lang="en-US" sz="4000">
              <a:solidFill>
                <a:srgbClr val="526001"/>
              </a:solidFill>
              <a:latin typeface="Roboto" panose="02000000000000000000" pitchFamily="2" charset="0"/>
              <a:ea typeface="Roboto" panose="02000000000000000000" pitchFamily="2" charset="0"/>
              <a:cs typeface="Roboto" panose="02000000000000000000" pitchFamily="2" charset="0"/>
            </a:endParaRPr>
          </a:p>
        </p:txBody>
      </p:sp>
      <p:pic>
        <p:nvPicPr>
          <p:cNvPr id="30" name="Image 0" descr="preencoded.png">
            <a:extLst>
              <a:ext uri="{FF2B5EF4-FFF2-40B4-BE49-F238E27FC236}">
                <a16:creationId xmlns:a16="http://schemas.microsoft.com/office/drawing/2014/main" id="{AAD11E55-6ECD-7765-D67F-F99550477896}"/>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4" name="Text 0">
            <a:extLst>
              <a:ext uri="{FF2B5EF4-FFF2-40B4-BE49-F238E27FC236}">
                <a16:creationId xmlns:a16="http://schemas.microsoft.com/office/drawing/2014/main" id="{27D94CCC-6470-7044-4FC9-0ACAA2572167}"/>
              </a:ext>
            </a:extLst>
          </p:cNvPr>
          <p:cNvSpPr/>
          <p:nvPr/>
        </p:nvSpPr>
        <p:spPr>
          <a:xfrm>
            <a:off x="361243" y="1238491"/>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Step 4: Themes! (and labels and coord())</a:t>
            </a:r>
          </a:p>
        </p:txBody>
      </p:sp>
      <p:pic>
        <p:nvPicPr>
          <p:cNvPr id="2" name="Picture 1">
            <a:extLst>
              <a:ext uri="{FF2B5EF4-FFF2-40B4-BE49-F238E27FC236}">
                <a16:creationId xmlns:a16="http://schemas.microsoft.com/office/drawing/2014/main" id="{65E9312E-1F62-5873-F70D-5F19C3BFA63B}"/>
              </a:ext>
            </a:extLst>
          </p:cNvPr>
          <p:cNvPicPr>
            <a:picLocks noChangeAspect="1"/>
          </p:cNvPicPr>
          <p:nvPr/>
        </p:nvPicPr>
        <p:blipFill>
          <a:blip r:embed="rId6"/>
          <a:stretch>
            <a:fillRect/>
          </a:stretch>
        </p:blipFill>
        <p:spPr>
          <a:xfrm>
            <a:off x="-1" y="2207732"/>
            <a:ext cx="11122099" cy="4651952"/>
          </a:xfrm>
          <a:prstGeom prst="rect">
            <a:avLst/>
          </a:prstGeom>
        </p:spPr>
      </p:pic>
      <p:pic>
        <p:nvPicPr>
          <p:cNvPr id="3" name="Picture 2">
            <a:extLst>
              <a:ext uri="{FF2B5EF4-FFF2-40B4-BE49-F238E27FC236}">
                <a16:creationId xmlns:a16="http://schemas.microsoft.com/office/drawing/2014/main" id="{C716AF03-AA39-9FBD-8FF7-453428D4C383}"/>
              </a:ext>
            </a:extLst>
          </p:cNvPr>
          <p:cNvPicPr>
            <a:picLocks noChangeAspect="1"/>
          </p:cNvPicPr>
          <p:nvPr/>
        </p:nvPicPr>
        <p:blipFill>
          <a:blip r:embed="rId7"/>
          <a:stretch>
            <a:fillRect/>
          </a:stretch>
        </p:blipFill>
        <p:spPr>
          <a:xfrm>
            <a:off x="-1052" y="2206891"/>
            <a:ext cx="11122098" cy="4651952"/>
          </a:xfrm>
          <a:prstGeom prst="rect">
            <a:avLst/>
          </a:prstGeom>
        </p:spPr>
      </p:pic>
      <p:pic>
        <p:nvPicPr>
          <p:cNvPr id="7" name="Picture 6">
            <a:extLst>
              <a:ext uri="{FF2B5EF4-FFF2-40B4-BE49-F238E27FC236}">
                <a16:creationId xmlns:a16="http://schemas.microsoft.com/office/drawing/2014/main" id="{AC0F8D55-8EB9-0315-8D2A-27480240B957}"/>
              </a:ext>
            </a:extLst>
          </p:cNvPr>
          <p:cNvPicPr>
            <a:picLocks noChangeAspect="1"/>
          </p:cNvPicPr>
          <p:nvPr/>
        </p:nvPicPr>
        <p:blipFill>
          <a:blip r:embed="rId8"/>
          <a:stretch>
            <a:fillRect/>
          </a:stretch>
        </p:blipFill>
        <p:spPr>
          <a:xfrm>
            <a:off x="0" y="2211624"/>
            <a:ext cx="11121046" cy="4651511"/>
          </a:xfrm>
          <a:prstGeom prst="rect">
            <a:avLst/>
          </a:prstGeom>
        </p:spPr>
      </p:pic>
      <p:pic>
        <p:nvPicPr>
          <p:cNvPr id="5" name="Picture 4">
            <a:extLst>
              <a:ext uri="{FF2B5EF4-FFF2-40B4-BE49-F238E27FC236}">
                <a16:creationId xmlns:a16="http://schemas.microsoft.com/office/drawing/2014/main" id="{1198827D-40D5-1386-26C9-4023E728DF9C}"/>
              </a:ext>
            </a:extLst>
          </p:cNvPr>
          <p:cNvPicPr>
            <a:picLocks noChangeAspect="1"/>
          </p:cNvPicPr>
          <p:nvPr/>
        </p:nvPicPr>
        <p:blipFill>
          <a:blip r:embed="rId9"/>
          <a:stretch>
            <a:fillRect/>
          </a:stretch>
        </p:blipFill>
        <p:spPr>
          <a:xfrm>
            <a:off x="-3155" y="2206027"/>
            <a:ext cx="11121046" cy="4651512"/>
          </a:xfrm>
          <a:prstGeom prst="rect">
            <a:avLst/>
          </a:prstGeom>
        </p:spPr>
      </p:pic>
    </p:spTree>
    <p:extLst>
      <p:ext uri="{BB962C8B-B14F-4D97-AF65-F5344CB8AC3E}">
        <p14:creationId xmlns:p14="http://schemas.microsoft.com/office/powerpoint/2010/main" val="1451438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7D56-FAD2-5CC4-98BA-73D870E709C3}"/>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7C9BCBFC-E254-7998-DB4C-2B803D9CCA6E}"/>
              </a:ext>
            </a:extLst>
          </p:cNvPr>
          <p:cNvPicPr>
            <a:picLocks noChangeAspect="1"/>
          </p:cNvPicPr>
          <p:nvPr/>
        </p:nvPicPr>
        <p:blipFill>
          <a:blip r:embed="rId4"/>
          <a:stretch>
            <a:fillRect/>
          </a:stretch>
        </p:blipFill>
        <p:spPr>
          <a:xfrm>
            <a:off x="1050" y="2206048"/>
            <a:ext cx="11122099" cy="4651952"/>
          </a:xfrm>
          <a:prstGeom prst="rect">
            <a:avLst/>
          </a:prstGeom>
        </p:spPr>
      </p:pic>
      <p:sp>
        <p:nvSpPr>
          <p:cNvPr id="6" name="Title 1">
            <a:extLst>
              <a:ext uri="{FF2B5EF4-FFF2-40B4-BE49-F238E27FC236}">
                <a16:creationId xmlns:a16="http://schemas.microsoft.com/office/drawing/2014/main" id="{52D0109F-8F3A-4A1D-4886-0A43CEE0DDCD}"/>
              </a:ext>
            </a:extLst>
          </p:cNvPr>
          <p:cNvSpPr>
            <a:spLocks noGrp="1"/>
          </p:cNvSpPr>
          <p:nvPr>
            <p:ph type="title"/>
          </p:nvPr>
        </p:nvSpPr>
        <p:spPr>
          <a:xfrm>
            <a:off x="244997" y="194900"/>
            <a:ext cx="11702005" cy="1043591"/>
          </a:xfrm>
        </p:spPr>
        <p:txBody>
          <a:bodyPr>
            <a:normAutofit/>
          </a:body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4| Your first </a:t>
            </a:r>
            <a:r>
              <a:rPr lang="en-US" sz="4000" err="1">
                <a:solidFill>
                  <a:srgbClr val="526001"/>
                </a:solidFill>
                <a:latin typeface="Roboto" panose="02000000000000000000" pitchFamily="2" charset="0"/>
                <a:ea typeface="Roboto" panose="02000000000000000000" pitchFamily="2" charset="0"/>
                <a:cs typeface="Roboto" panose="02000000000000000000" pitchFamily="2" charset="0"/>
              </a:rPr>
              <a:t>ggplot</a:t>
            </a:r>
            <a:endParaRPr lang="en-US" sz="4000">
              <a:solidFill>
                <a:srgbClr val="526001"/>
              </a:solidFill>
              <a:latin typeface="Roboto" panose="02000000000000000000" pitchFamily="2" charset="0"/>
              <a:ea typeface="Roboto" panose="02000000000000000000" pitchFamily="2" charset="0"/>
              <a:cs typeface="Roboto" panose="02000000000000000000" pitchFamily="2" charset="0"/>
            </a:endParaRPr>
          </a:p>
        </p:txBody>
      </p:sp>
      <p:pic>
        <p:nvPicPr>
          <p:cNvPr id="30" name="Image 0" descr="preencoded.png">
            <a:extLst>
              <a:ext uri="{FF2B5EF4-FFF2-40B4-BE49-F238E27FC236}">
                <a16:creationId xmlns:a16="http://schemas.microsoft.com/office/drawing/2014/main" id="{2D86F357-EFBB-6CCF-5B3A-175A7874BD49}"/>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4" name="Text 0">
            <a:extLst>
              <a:ext uri="{FF2B5EF4-FFF2-40B4-BE49-F238E27FC236}">
                <a16:creationId xmlns:a16="http://schemas.microsoft.com/office/drawing/2014/main" id="{2D3A1841-CC04-36A9-2E8F-F932948F9A89}"/>
              </a:ext>
            </a:extLst>
          </p:cNvPr>
          <p:cNvSpPr/>
          <p:nvPr/>
        </p:nvSpPr>
        <p:spPr>
          <a:xfrm>
            <a:off x="361243" y="1238491"/>
            <a:ext cx="11492090"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Step 4: Themes! (and labels and coord())</a:t>
            </a:r>
          </a:p>
        </p:txBody>
      </p:sp>
      <p:pic>
        <p:nvPicPr>
          <p:cNvPr id="2" name="Picture 1">
            <a:extLst>
              <a:ext uri="{FF2B5EF4-FFF2-40B4-BE49-F238E27FC236}">
                <a16:creationId xmlns:a16="http://schemas.microsoft.com/office/drawing/2014/main" id="{5CD82BBF-4694-EF3C-B624-8B721B444A2D}"/>
              </a:ext>
            </a:extLst>
          </p:cNvPr>
          <p:cNvPicPr>
            <a:picLocks noChangeAspect="1"/>
          </p:cNvPicPr>
          <p:nvPr/>
        </p:nvPicPr>
        <p:blipFill>
          <a:blip r:embed="rId6"/>
          <a:stretch>
            <a:fillRect/>
          </a:stretch>
        </p:blipFill>
        <p:spPr>
          <a:xfrm>
            <a:off x="-1" y="2207732"/>
            <a:ext cx="11122099" cy="4651952"/>
          </a:xfrm>
          <a:prstGeom prst="rect">
            <a:avLst/>
          </a:prstGeom>
        </p:spPr>
      </p:pic>
      <p:pic>
        <p:nvPicPr>
          <p:cNvPr id="3" name="Picture 2">
            <a:extLst>
              <a:ext uri="{FF2B5EF4-FFF2-40B4-BE49-F238E27FC236}">
                <a16:creationId xmlns:a16="http://schemas.microsoft.com/office/drawing/2014/main" id="{765537E1-4616-8E30-E726-DAE14867D910}"/>
              </a:ext>
            </a:extLst>
          </p:cNvPr>
          <p:cNvPicPr>
            <a:picLocks noChangeAspect="1"/>
          </p:cNvPicPr>
          <p:nvPr/>
        </p:nvPicPr>
        <p:blipFill>
          <a:blip r:embed="rId7"/>
          <a:stretch>
            <a:fillRect/>
          </a:stretch>
        </p:blipFill>
        <p:spPr>
          <a:xfrm>
            <a:off x="-1052" y="2206891"/>
            <a:ext cx="11122098" cy="4651952"/>
          </a:xfrm>
          <a:prstGeom prst="rect">
            <a:avLst/>
          </a:prstGeom>
        </p:spPr>
      </p:pic>
      <p:pic>
        <p:nvPicPr>
          <p:cNvPr id="7" name="Picture 6">
            <a:extLst>
              <a:ext uri="{FF2B5EF4-FFF2-40B4-BE49-F238E27FC236}">
                <a16:creationId xmlns:a16="http://schemas.microsoft.com/office/drawing/2014/main" id="{7BE694F6-9370-5035-34FA-0120961B5079}"/>
              </a:ext>
            </a:extLst>
          </p:cNvPr>
          <p:cNvPicPr>
            <a:picLocks noChangeAspect="1"/>
          </p:cNvPicPr>
          <p:nvPr/>
        </p:nvPicPr>
        <p:blipFill>
          <a:blip r:embed="rId8"/>
          <a:stretch>
            <a:fillRect/>
          </a:stretch>
        </p:blipFill>
        <p:spPr>
          <a:xfrm>
            <a:off x="0" y="2211624"/>
            <a:ext cx="11121046" cy="4651511"/>
          </a:xfrm>
          <a:prstGeom prst="rect">
            <a:avLst/>
          </a:prstGeom>
        </p:spPr>
      </p:pic>
      <p:pic>
        <p:nvPicPr>
          <p:cNvPr id="5" name="Picture 4">
            <a:extLst>
              <a:ext uri="{FF2B5EF4-FFF2-40B4-BE49-F238E27FC236}">
                <a16:creationId xmlns:a16="http://schemas.microsoft.com/office/drawing/2014/main" id="{91D817E9-6A2A-51FE-528C-A9D1C835C990}"/>
              </a:ext>
            </a:extLst>
          </p:cNvPr>
          <p:cNvPicPr>
            <a:picLocks noChangeAspect="1"/>
          </p:cNvPicPr>
          <p:nvPr/>
        </p:nvPicPr>
        <p:blipFill>
          <a:blip r:embed="rId9"/>
          <a:stretch>
            <a:fillRect/>
          </a:stretch>
        </p:blipFill>
        <p:spPr>
          <a:xfrm>
            <a:off x="-3155" y="2206027"/>
            <a:ext cx="11121046" cy="4651512"/>
          </a:xfrm>
          <a:prstGeom prst="rect">
            <a:avLst/>
          </a:prstGeom>
        </p:spPr>
      </p:pic>
      <p:pic>
        <p:nvPicPr>
          <p:cNvPr id="8" name="Picture 7">
            <a:extLst>
              <a:ext uri="{FF2B5EF4-FFF2-40B4-BE49-F238E27FC236}">
                <a16:creationId xmlns:a16="http://schemas.microsoft.com/office/drawing/2014/main" id="{AE62C176-7405-8EDD-1857-386740A7A63B}"/>
              </a:ext>
            </a:extLst>
          </p:cNvPr>
          <p:cNvPicPr>
            <a:picLocks noChangeAspect="1"/>
          </p:cNvPicPr>
          <p:nvPr/>
        </p:nvPicPr>
        <p:blipFill>
          <a:blip r:embed="rId10"/>
          <a:stretch>
            <a:fillRect/>
          </a:stretch>
        </p:blipFill>
        <p:spPr>
          <a:xfrm>
            <a:off x="-1" y="2216834"/>
            <a:ext cx="11117891" cy="4650193"/>
          </a:xfrm>
          <a:prstGeom prst="rect">
            <a:avLst/>
          </a:prstGeom>
        </p:spPr>
      </p:pic>
    </p:spTree>
    <p:extLst>
      <p:ext uri="{BB962C8B-B14F-4D97-AF65-F5344CB8AC3E}">
        <p14:creationId xmlns:p14="http://schemas.microsoft.com/office/powerpoint/2010/main" val="2847852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5AC8C-442D-C830-BC0F-B2438F32536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33A7D92-DEAC-1E85-CB39-7B9DA8CBDD6F}"/>
              </a:ext>
            </a:extLst>
          </p:cNvPr>
          <p:cNvSpPr txBox="1">
            <a:spLocks/>
          </p:cNvSpPr>
          <p:nvPr/>
        </p:nvSpPr>
        <p:spPr>
          <a:xfrm>
            <a:off x="244997" y="194900"/>
            <a:ext cx="11702005" cy="10435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5| What do I do with these plots?</a:t>
            </a:r>
          </a:p>
        </p:txBody>
      </p:sp>
      <p:pic>
        <p:nvPicPr>
          <p:cNvPr id="7" name="Image 0" descr="preencoded.png">
            <a:extLst>
              <a:ext uri="{FF2B5EF4-FFF2-40B4-BE49-F238E27FC236}">
                <a16:creationId xmlns:a16="http://schemas.microsoft.com/office/drawing/2014/main" id="{DF717D72-FE93-91C4-2856-4701CEA49A89}"/>
              </a:ext>
            </a:extLst>
          </p:cNvPr>
          <p:cNvPicPr>
            <a:picLocks noChangeAspect="1"/>
          </p:cNvPicPr>
          <p:nvPr>
            <p:custDataLst>
              <p:tags r:id="rId1"/>
            </p:custDataLst>
          </p:nvPr>
        </p:nvPicPr>
        <p:blipFill>
          <a:blip r:embed="rId4"/>
          <a:stretch>
            <a:fillRect/>
          </a:stretch>
        </p:blipFill>
        <p:spPr>
          <a:xfrm>
            <a:off x="11123149" y="5796335"/>
            <a:ext cx="858883" cy="858883"/>
          </a:xfrm>
          <a:prstGeom prst="rect">
            <a:avLst/>
          </a:prstGeom>
        </p:spPr>
      </p:pic>
      <p:pic>
        <p:nvPicPr>
          <p:cNvPr id="9" name="Picture 8">
            <a:extLst>
              <a:ext uri="{FF2B5EF4-FFF2-40B4-BE49-F238E27FC236}">
                <a16:creationId xmlns:a16="http://schemas.microsoft.com/office/drawing/2014/main" id="{10BBC0B9-ADAD-ADAB-5F7A-14ACD2702E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65216" y="1238491"/>
            <a:ext cx="8269761" cy="5424609"/>
          </a:xfrm>
          <a:prstGeom prst="rect">
            <a:avLst/>
          </a:prstGeom>
        </p:spPr>
      </p:pic>
      <p:sp>
        <p:nvSpPr>
          <p:cNvPr id="2" name="Text 0">
            <a:extLst>
              <a:ext uri="{FF2B5EF4-FFF2-40B4-BE49-F238E27FC236}">
                <a16:creationId xmlns:a16="http://schemas.microsoft.com/office/drawing/2014/main" id="{95F2F8E8-E9C7-7C10-803B-61FA4719D35C}"/>
              </a:ext>
            </a:extLst>
          </p:cNvPr>
          <p:cNvSpPr/>
          <p:nvPr/>
        </p:nvSpPr>
        <p:spPr>
          <a:xfrm>
            <a:off x="7490828" y="507581"/>
            <a:ext cx="5023555" cy="1222487"/>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r>
              <a:rPr lang="en-AU" sz="2800" b="1">
                <a:solidFill>
                  <a:srgbClr val="526001"/>
                </a:solidFill>
                <a:latin typeface="Ink Free" panose="03080402000500000000" pitchFamily="66" charset="0"/>
              </a:rPr>
              <a:t>More extras!</a:t>
            </a:r>
          </a:p>
        </p:txBody>
      </p:sp>
    </p:spTree>
    <p:extLst>
      <p:ext uri="{BB962C8B-B14F-4D97-AF65-F5344CB8AC3E}">
        <p14:creationId xmlns:p14="http://schemas.microsoft.com/office/powerpoint/2010/main" val="2499306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4E39D-8D45-3E00-7661-26BFEBDF9B3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956A129-CE7A-9039-657B-C25BEF60120B}"/>
              </a:ext>
            </a:extLst>
          </p:cNvPr>
          <p:cNvSpPr txBox="1">
            <a:spLocks/>
          </p:cNvSpPr>
          <p:nvPr/>
        </p:nvSpPr>
        <p:spPr>
          <a:xfrm>
            <a:off x="244997" y="194900"/>
            <a:ext cx="11702005" cy="10435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6| What’s next?</a:t>
            </a:r>
          </a:p>
        </p:txBody>
      </p:sp>
      <p:pic>
        <p:nvPicPr>
          <p:cNvPr id="7" name="Image 0" descr="preencoded.png">
            <a:extLst>
              <a:ext uri="{FF2B5EF4-FFF2-40B4-BE49-F238E27FC236}">
                <a16:creationId xmlns:a16="http://schemas.microsoft.com/office/drawing/2014/main" id="{2D1FAF40-333A-DD47-915B-F9F3454BAE99}"/>
              </a:ext>
            </a:extLst>
          </p:cNvPr>
          <p:cNvPicPr>
            <a:picLocks noChangeAspect="1"/>
          </p:cNvPicPr>
          <p:nvPr>
            <p:custDataLst>
              <p:tags r:id="rId1"/>
            </p:custDataLst>
          </p:nvPr>
        </p:nvPicPr>
        <p:blipFill>
          <a:blip r:embed="rId4"/>
          <a:stretch>
            <a:fillRect/>
          </a:stretch>
        </p:blipFill>
        <p:spPr>
          <a:xfrm>
            <a:off x="11123149" y="5796335"/>
            <a:ext cx="858883" cy="858883"/>
          </a:xfrm>
          <a:prstGeom prst="rect">
            <a:avLst/>
          </a:prstGeom>
        </p:spPr>
      </p:pic>
      <p:sp>
        <p:nvSpPr>
          <p:cNvPr id="9" name="Content Placeholder 2">
            <a:extLst>
              <a:ext uri="{FF2B5EF4-FFF2-40B4-BE49-F238E27FC236}">
                <a16:creationId xmlns:a16="http://schemas.microsoft.com/office/drawing/2014/main" id="{C09DE108-E3E1-0947-8378-65FB9284A153}"/>
              </a:ext>
            </a:extLst>
          </p:cNvPr>
          <p:cNvSpPr txBox="1">
            <a:spLocks/>
          </p:cNvSpPr>
          <p:nvPr/>
        </p:nvSpPr>
        <p:spPr>
          <a:xfrm>
            <a:off x="397397" y="1390889"/>
            <a:ext cx="12203320" cy="542460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Roboto" panose="02000000000000000000" pitchFamily="2" charset="0"/>
                <a:ea typeface="Roboto" panose="02000000000000000000" pitchFamily="2" charset="0"/>
                <a:cs typeface="Roboto" panose="02000000000000000000" pitchFamily="2" charset="0"/>
              </a:rPr>
              <a:t>➪ Useful resources</a:t>
            </a:r>
            <a:endParaRPr lang="en-US" sz="2800">
              <a:latin typeface="Roboto" panose="02000000000000000000" pitchFamily="2" charset="0"/>
              <a:ea typeface="Roboto" panose="02000000000000000000" pitchFamily="2" charset="0"/>
              <a:cs typeface="Roboto" panose="02000000000000000000" pitchFamily="2" charset="0"/>
            </a:endParaRPr>
          </a:p>
          <a:p>
            <a:pPr marL="914400" lvl="2" indent="0">
              <a:buNone/>
            </a:pPr>
            <a:endParaRPr lang="en-US" sz="2800">
              <a:latin typeface="Roboto" panose="02000000000000000000" pitchFamily="2" charset="0"/>
              <a:ea typeface="Roboto" panose="02000000000000000000" pitchFamily="2" charset="0"/>
              <a:cs typeface="Roboto" panose="02000000000000000000" pitchFamily="2" charset="0"/>
            </a:endParaRPr>
          </a:p>
        </p:txBody>
      </p:sp>
      <p:pic>
        <p:nvPicPr>
          <p:cNvPr id="14" name="Picture 13">
            <a:extLst>
              <a:ext uri="{FF2B5EF4-FFF2-40B4-BE49-F238E27FC236}">
                <a16:creationId xmlns:a16="http://schemas.microsoft.com/office/drawing/2014/main" id="{A19AD78F-2A54-ABBF-70CF-7E850E08E3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997" y="2091587"/>
            <a:ext cx="5913092" cy="4563631"/>
          </a:xfrm>
          <a:prstGeom prst="rect">
            <a:avLst/>
          </a:prstGeom>
        </p:spPr>
      </p:pic>
      <p:pic>
        <p:nvPicPr>
          <p:cNvPr id="16" name="Picture 15">
            <a:extLst>
              <a:ext uri="{FF2B5EF4-FFF2-40B4-BE49-F238E27FC236}">
                <a16:creationId xmlns:a16="http://schemas.microsoft.com/office/drawing/2014/main" id="{54DE23F9-D88D-B7D1-591A-A149038DA5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10489" y="3816611"/>
            <a:ext cx="1873955" cy="2838607"/>
          </a:xfrm>
          <a:prstGeom prst="rect">
            <a:avLst/>
          </a:prstGeom>
        </p:spPr>
      </p:pic>
      <p:sp>
        <p:nvSpPr>
          <p:cNvPr id="17" name="TextBox 16">
            <a:extLst>
              <a:ext uri="{FF2B5EF4-FFF2-40B4-BE49-F238E27FC236}">
                <a16:creationId xmlns:a16="http://schemas.microsoft.com/office/drawing/2014/main" id="{6BC2E2D9-44CF-02AB-3F61-33CB6683C95F}"/>
              </a:ext>
            </a:extLst>
          </p:cNvPr>
          <p:cNvSpPr txBox="1"/>
          <p:nvPr/>
        </p:nvSpPr>
        <p:spPr>
          <a:xfrm>
            <a:off x="6310489" y="2105561"/>
            <a:ext cx="5084521" cy="1323439"/>
          </a:xfrm>
          <a:prstGeom prst="rect">
            <a:avLst/>
          </a:prstGeom>
          <a:noFill/>
        </p:spPr>
        <p:txBody>
          <a:bodyPr wrap="square" rtlCol="0">
            <a:spAutoFit/>
          </a:bodyPr>
          <a:lstStyle/>
          <a:p>
            <a:r>
              <a:rPr lang="en-US" sz="2000">
                <a:latin typeface="Roboto" panose="02000000000000000000" pitchFamily="2" charset="0"/>
                <a:ea typeface="Roboto" panose="02000000000000000000" pitchFamily="2" charset="0"/>
                <a:cs typeface="Roboto" panose="02000000000000000000" pitchFamily="2" charset="0"/>
              </a:rPr>
              <a:t>https://ggplot2-book.org</a:t>
            </a:r>
          </a:p>
          <a:p>
            <a:endParaRPr lang="en-US" sz="2000">
              <a:latin typeface="Roboto" panose="02000000000000000000" pitchFamily="2" charset="0"/>
              <a:ea typeface="Roboto" panose="02000000000000000000" pitchFamily="2" charset="0"/>
              <a:cs typeface="Roboto" panose="02000000000000000000" pitchFamily="2" charset="0"/>
            </a:endParaRPr>
          </a:p>
          <a:p>
            <a:r>
              <a:rPr lang="en-US" sz="2000">
                <a:latin typeface="Roboto" panose="02000000000000000000" pitchFamily="2" charset="0"/>
                <a:ea typeface="Roboto" panose="02000000000000000000" pitchFamily="2" charset="0"/>
                <a:cs typeface="Roboto" panose="02000000000000000000" pitchFamily="2" charset="0"/>
              </a:rPr>
              <a:t>https://</a:t>
            </a:r>
            <a:r>
              <a:rPr lang="en-US" sz="2000" err="1">
                <a:latin typeface="Roboto" panose="02000000000000000000" pitchFamily="2" charset="0"/>
                <a:ea typeface="Roboto" panose="02000000000000000000" pitchFamily="2" charset="0"/>
                <a:cs typeface="Roboto" panose="02000000000000000000" pitchFamily="2" charset="0"/>
              </a:rPr>
              <a:t>rstudio.github.io</a:t>
            </a:r>
            <a:r>
              <a:rPr lang="en-US" sz="2000">
                <a:latin typeface="Roboto" panose="02000000000000000000" pitchFamily="2" charset="0"/>
                <a:ea typeface="Roboto" panose="02000000000000000000" pitchFamily="2" charset="0"/>
                <a:cs typeface="Roboto" panose="02000000000000000000" pitchFamily="2" charset="0"/>
              </a:rPr>
              <a:t>/</a:t>
            </a:r>
            <a:r>
              <a:rPr lang="en-US" sz="2000" err="1">
                <a:latin typeface="Roboto" panose="02000000000000000000" pitchFamily="2" charset="0"/>
                <a:ea typeface="Roboto" panose="02000000000000000000" pitchFamily="2" charset="0"/>
                <a:cs typeface="Roboto" panose="02000000000000000000" pitchFamily="2" charset="0"/>
              </a:rPr>
              <a:t>cheatsheets</a:t>
            </a:r>
            <a:r>
              <a:rPr lang="en-US" sz="2000">
                <a:latin typeface="Roboto" panose="02000000000000000000" pitchFamily="2" charset="0"/>
                <a:ea typeface="Roboto" panose="02000000000000000000" pitchFamily="2" charset="0"/>
                <a:cs typeface="Roboto" panose="02000000000000000000" pitchFamily="2" charset="0"/>
              </a:rPr>
              <a:t>/data-</a:t>
            </a:r>
            <a:r>
              <a:rPr lang="en-US" sz="2000" err="1">
                <a:latin typeface="Roboto" panose="02000000000000000000" pitchFamily="2" charset="0"/>
                <a:ea typeface="Roboto" panose="02000000000000000000" pitchFamily="2" charset="0"/>
                <a:cs typeface="Roboto" panose="02000000000000000000" pitchFamily="2" charset="0"/>
              </a:rPr>
              <a:t>visualization.pdf</a:t>
            </a:r>
            <a:endParaRPr lang="en-US" sz="200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29918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602A8-15EE-C650-CE77-CC8D6067722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4CCE2C7-FAC3-DF65-AB55-E4B21F303A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7105" y="606772"/>
            <a:ext cx="5236583" cy="5901226"/>
          </a:xfrm>
          <a:prstGeom prst="rect">
            <a:avLst/>
          </a:prstGeom>
        </p:spPr>
      </p:pic>
      <p:sp>
        <p:nvSpPr>
          <p:cNvPr id="5" name="Title 1">
            <a:extLst>
              <a:ext uri="{FF2B5EF4-FFF2-40B4-BE49-F238E27FC236}">
                <a16:creationId xmlns:a16="http://schemas.microsoft.com/office/drawing/2014/main" id="{EEEE6F6B-1E20-2792-0984-696AD741F9F3}"/>
              </a:ext>
            </a:extLst>
          </p:cNvPr>
          <p:cNvSpPr txBox="1">
            <a:spLocks/>
          </p:cNvSpPr>
          <p:nvPr/>
        </p:nvSpPr>
        <p:spPr>
          <a:xfrm>
            <a:off x="244997" y="194900"/>
            <a:ext cx="11702005" cy="10435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6| What’s next?</a:t>
            </a:r>
          </a:p>
        </p:txBody>
      </p:sp>
      <p:pic>
        <p:nvPicPr>
          <p:cNvPr id="7" name="Image 0" descr="preencoded.png">
            <a:extLst>
              <a:ext uri="{FF2B5EF4-FFF2-40B4-BE49-F238E27FC236}">
                <a16:creationId xmlns:a16="http://schemas.microsoft.com/office/drawing/2014/main" id="{C83D354A-86A3-250B-33E9-C72970AED3BD}"/>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9" name="Content Placeholder 2">
            <a:extLst>
              <a:ext uri="{FF2B5EF4-FFF2-40B4-BE49-F238E27FC236}">
                <a16:creationId xmlns:a16="http://schemas.microsoft.com/office/drawing/2014/main" id="{CA07A29C-F7DE-9E79-760B-FF89FFC2AAA2}"/>
              </a:ext>
            </a:extLst>
          </p:cNvPr>
          <p:cNvSpPr txBox="1">
            <a:spLocks/>
          </p:cNvSpPr>
          <p:nvPr/>
        </p:nvSpPr>
        <p:spPr>
          <a:xfrm>
            <a:off x="397397" y="1390889"/>
            <a:ext cx="12203320" cy="542460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atin typeface="Roboto" panose="02000000000000000000" pitchFamily="2" charset="0"/>
                <a:ea typeface="Roboto" panose="02000000000000000000" pitchFamily="2" charset="0"/>
                <a:cs typeface="Roboto" panose="02000000000000000000" pitchFamily="2" charset="0"/>
              </a:rPr>
              <a:t>➪ Do you want more?</a:t>
            </a:r>
            <a:endParaRPr lang="en-US" sz="2800">
              <a:latin typeface="Roboto" panose="02000000000000000000" pitchFamily="2" charset="0"/>
              <a:ea typeface="Roboto" panose="02000000000000000000" pitchFamily="2" charset="0"/>
              <a:cs typeface="Roboto" panose="02000000000000000000" pitchFamily="2" charset="0"/>
            </a:endParaRPr>
          </a:p>
          <a:p>
            <a:pPr marL="914400" lvl="2" indent="0">
              <a:buNone/>
            </a:pPr>
            <a:endParaRPr lang="en-US" sz="2800">
              <a:latin typeface="Roboto" panose="02000000000000000000" pitchFamily="2" charset="0"/>
              <a:ea typeface="Roboto" panose="02000000000000000000" pitchFamily="2" charset="0"/>
              <a:cs typeface="Roboto" panose="02000000000000000000" pitchFamily="2" charset="0"/>
            </a:endParaRPr>
          </a:p>
        </p:txBody>
      </p:sp>
      <p:sp>
        <p:nvSpPr>
          <p:cNvPr id="3" name="TextBox 2">
            <a:extLst>
              <a:ext uri="{FF2B5EF4-FFF2-40B4-BE49-F238E27FC236}">
                <a16:creationId xmlns:a16="http://schemas.microsoft.com/office/drawing/2014/main" id="{A837932B-267A-7EE2-8B93-1F2D842254FF}"/>
              </a:ext>
            </a:extLst>
          </p:cNvPr>
          <p:cNvSpPr txBox="1"/>
          <p:nvPr/>
        </p:nvSpPr>
        <p:spPr>
          <a:xfrm>
            <a:off x="397397" y="5717944"/>
            <a:ext cx="6299200" cy="923330"/>
          </a:xfrm>
          <a:prstGeom prst="rect">
            <a:avLst/>
          </a:prstGeom>
          <a:noFill/>
        </p:spPr>
        <p:txBody>
          <a:bodyPr wrap="square">
            <a:spAutoFit/>
          </a:bodyPr>
          <a:lstStyle/>
          <a:p>
            <a:r>
              <a:rPr lang="en-US">
                <a:latin typeface="Roboto" panose="02000000000000000000" pitchFamily="2" charset="0"/>
                <a:ea typeface="Roboto" panose="02000000000000000000" pitchFamily="2" charset="0"/>
                <a:cs typeface="Roboto" panose="02000000000000000000" pitchFamily="2" charset="0"/>
              </a:rPr>
              <a:t>https://</a:t>
            </a:r>
            <a:r>
              <a:rPr lang="en-US" err="1">
                <a:latin typeface="Roboto" panose="02000000000000000000" pitchFamily="2" charset="0"/>
                <a:ea typeface="Roboto" panose="02000000000000000000" pitchFamily="2" charset="0"/>
                <a:cs typeface="Roboto" panose="02000000000000000000" pitchFamily="2" charset="0"/>
              </a:rPr>
              <a:t>app.sli.do</a:t>
            </a:r>
            <a:r>
              <a:rPr lang="en-US">
                <a:latin typeface="Roboto" panose="02000000000000000000" pitchFamily="2" charset="0"/>
                <a:ea typeface="Roboto" panose="02000000000000000000" pitchFamily="2" charset="0"/>
                <a:cs typeface="Roboto" panose="02000000000000000000" pitchFamily="2" charset="0"/>
              </a:rPr>
              <a:t>/event/kog6kSc2j2VZa9MS6KQZLZ</a:t>
            </a:r>
          </a:p>
          <a:p>
            <a:r>
              <a:rPr lang="en-US" err="1">
                <a:latin typeface="Roboto" panose="02000000000000000000" pitchFamily="2" charset="0"/>
                <a:ea typeface="Roboto" panose="02000000000000000000" pitchFamily="2" charset="0"/>
                <a:cs typeface="Roboto" panose="02000000000000000000" pitchFamily="2" charset="0"/>
              </a:rPr>
              <a:t>Slido</a:t>
            </a:r>
            <a:r>
              <a:rPr lang="en-US">
                <a:latin typeface="Roboto" panose="02000000000000000000" pitchFamily="2" charset="0"/>
                <a:ea typeface="Roboto" panose="02000000000000000000" pitchFamily="2" charset="0"/>
                <a:cs typeface="Roboto" panose="02000000000000000000" pitchFamily="2" charset="0"/>
              </a:rPr>
              <a:t> code: 3258650</a:t>
            </a:r>
          </a:p>
          <a:p>
            <a:endParaRPr lang="en-US">
              <a:latin typeface="Roboto" panose="02000000000000000000" pitchFamily="2" charset="0"/>
              <a:ea typeface="Roboto" panose="02000000000000000000" pitchFamily="2" charset="0"/>
              <a:cs typeface="Roboto" panose="02000000000000000000" pitchFamily="2" charset="0"/>
            </a:endParaRPr>
          </a:p>
        </p:txBody>
      </p:sp>
      <p:pic>
        <p:nvPicPr>
          <p:cNvPr id="44034" name="Picture 2" descr="Event QR code">
            <a:extLst>
              <a:ext uri="{FF2B5EF4-FFF2-40B4-BE49-F238E27FC236}">
                <a16:creationId xmlns:a16="http://schemas.microsoft.com/office/drawing/2014/main" id="{8E0252D0-8D01-2BEC-24C7-1A64F54830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3012" y="2109467"/>
            <a:ext cx="3456079" cy="3456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22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F46CE-EC58-9735-1A28-2FB17A1CDB1E}"/>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FD20516F-2863-C4DF-F243-25DCC82790DD}"/>
              </a:ext>
            </a:extLst>
          </p:cNvPr>
          <p:cNvGrpSpPr/>
          <p:nvPr/>
        </p:nvGrpSpPr>
        <p:grpSpPr>
          <a:xfrm>
            <a:off x="1576899" y="1336431"/>
            <a:ext cx="9038201" cy="5521569"/>
            <a:chOff x="2059158" y="1958534"/>
            <a:chExt cx="8073683" cy="4915661"/>
          </a:xfrm>
        </p:grpSpPr>
        <p:pic>
          <p:nvPicPr>
            <p:cNvPr id="4" name="Picture 3">
              <a:extLst>
                <a:ext uri="{FF2B5EF4-FFF2-40B4-BE49-F238E27FC236}">
                  <a16:creationId xmlns:a16="http://schemas.microsoft.com/office/drawing/2014/main" id="{3A2F1B17-7828-55A6-7A98-32847B32284D}"/>
                </a:ext>
              </a:extLst>
            </p:cNvPr>
            <p:cNvPicPr>
              <a:picLocks noChangeAspect="1"/>
            </p:cNvPicPr>
            <p:nvPr/>
          </p:nvPicPr>
          <p:blipFill>
            <a:blip r:embed="rId4">
              <a:extLst>
                <a:ext uri="{28A0092B-C50C-407E-A947-70E740481C1C}">
                  <a14:useLocalDpi xmlns:a14="http://schemas.microsoft.com/office/drawing/2010/main" val="0"/>
                </a:ext>
              </a:extLst>
            </a:blip>
            <a:srcRect t="24454"/>
            <a:stretch>
              <a:fillRect/>
            </a:stretch>
          </p:blipFill>
          <p:spPr>
            <a:xfrm>
              <a:off x="2059158" y="2282082"/>
              <a:ext cx="8073683" cy="4592113"/>
            </a:xfrm>
            <a:prstGeom prst="rect">
              <a:avLst/>
            </a:prstGeom>
          </p:spPr>
        </p:pic>
        <p:sp>
          <p:nvSpPr>
            <p:cNvPr id="7" name="Rectangle 6">
              <a:extLst>
                <a:ext uri="{FF2B5EF4-FFF2-40B4-BE49-F238E27FC236}">
                  <a16:creationId xmlns:a16="http://schemas.microsoft.com/office/drawing/2014/main" id="{45B58BCF-A5E8-8013-55A0-36170D8A5580}"/>
                </a:ext>
              </a:extLst>
            </p:cNvPr>
            <p:cNvSpPr/>
            <p:nvPr/>
          </p:nvSpPr>
          <p:spPr>
            <a:xfrm>
              <a:off x="2555434" y="2013246"/>
              <a:ext cx="623864" cy="4908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4EDEEB7-A9C3-FF56-2C0E-C075D44B00C5}"/>
                </a:ext>
              </a:extLst>
            </p:cNvPr>
            <p:cNvSpPr/>
            <p:nvPr/>
          </p:nvSpPr>
          <p:spPr>
            <a:xfrm>
              <a:off x="5472135" y="2036680"/>
              <a:ext cx="816123" cy="4908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29E146D-8545-37FB-0303-6FF314B16DA3}"/>
                </a:ext>
              </a:extLst>
            </p:cNvPr>
            <p:cNvSpPr/>
            <p:nvPr/>
          </p:nvSpPr>
          <p:spPr>
            <a:xfrm>
              <a:off x="8581095" y="1958534"/>
              <a:ext cx="816123" cy="4908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Image 0" descr="preencoded.png">
            <a:extLst>
              <a:ext uri="{FF2B5EF4-FFF2-40B4-BE49-F238E27FC236}">
                <a16:creationId xmlns:a16="http://schemas.microsoft.com/office/drawing/2014/main" id="{BE491702-2176-5719-51A0-AC85BBE96170}"/>
              </a:ext>
            </a:extLst>
          </p:cNvPr>
          <p:cNvPicPr>
            <a:picLocks noChangeAspect="1"/>
          </p:cNvPicPr>
          <p:nvPr>
            <p:custDataLst>
              <p:tags r:id="rId1"/>
            </p:custDataLst>
          </p:nvPr>
        </p:nvPicPr>
        <p:blipFill>
          <a:blip r:embed="rId5"/>
          <a:stretch>
            <a:fillRect/>
          </a:stretch>
        </p:blipFill>
        <p:spPr>
          <a:xfrm>
            <a:off x="11123149" y="5796335"/>
            <a:ext cx="858883" cy="858883"/>
          </a:xfrm>
          <a:prstGeom prst="rect">
            <a:avLst/>
          </a:prstGeom>
        </p:spPr>
      </p:pic>
      <p:sp>
        <p:nvSpPr>
          <p:cNvPr id="2" name="Text 0">
            <a:extLst>
              <a:ext uri="{FF2B5EF4-FFF2-40B4-BE49-F238E27FC236}">
                <a16:creationId xmlns:a16="http://schemas.microsoft.com/office/drawing/2014/main" id="{75A83EEE-A069-C325-FACF-9FAAF2BC0691}"/>
              </a:ext>
            </a:extLst>
          </p:cNvPr>
          <p:cNvSpPr/>
          <p:nvPr/>
        </p:nvSpPr>
        <p:spPr>
          <a:xfrm>
            <a:off x="379828" y="451633"/>
            <a:ext cx="11451101" cy="1183252"/>
          </a:xfrm>
          <a:prstGeom prst="rect">
            <a:avLst/>
          </a:prstGeom>
          <a:noFill/>
          <a:ln/>
        </p:spPr>
        <p:txBody>
          <a:bodyPr wrap="square" lIns="0" tIns="0" rIns="0" bIns="0" rtlCol="0" anchor="ctr"/>
          <a:lstStyle>
            <a:lvl1pPr marL="0" algn="l" defTabSz="1120506" rtl="0" eaLnBrk="1" latinLnBrk="0" hangingPunct="1">
              <a:defRPr sz="2206" kern="1200">
                <a:solidFill>
                  <a:schemeClr val="tx1"/>
                </a:solidFill>
                <a:latin typeface="+mn-lt"/>
                <a:ea typeface="+mn-ea"/>
                <a:cs typeface="+mn-cs"/>
              </a:defRPr>
            </a:lvl1pPr>
            <a:lvl2pPr marL="560253" algn="l" defTabSz="1120506" rtl="0" eaLnBrk="1" latinLnBrk="0" hangingPunct="1">
              <a:defRPr sz="2206" kern="1200">
                <a:solidFill>
                  <a:schemeClr val="tx1"/>
                </a:solidFill>
                <a:latin typeface="+mn-lt"/>
                <a:ea typeface="+mn-ea"/>
                <a:cs typeface="+mn-cs"/>
              </a:defRPr>
            </a:lvl2pPr>
            <a:lvl3pPr marL="1120506" algn="l" defTabSz="1120506" rtl="0" eaLnBrk="1" latinLnBrk="0" hangingPunct="1">
              <a:defRPr sz="2206" kern="1200">
                <a:solidFill>
                  <a:schemeClr val="tx1"/>
                </a:solidFill>
                <a:latin typeface="+mn-lt"/>
                <a:ea typeface="+mn-ea"/>
                <a:cs typeface="+mn-cs"/>
              </a:defRPr>
            </a:lvl3pPr>
            <a:lvl4pPr marL="1680759" algn="l" defTabSz="1120506" rtl="0" eaLnBrk="1" latinLnBrk="0" hangingPunct="1">
              <a:defRPr sz="2206" kern="1200">
                <a:solidFill>
                  <a:schemeClr val="tx1"/>
                </a:solidFill>
                <a:latin typeface="+mn-lt"/>
                <a:ea typeface="+mn-ea"/>
                <a:cs typeface="+mn-cs"/>
              </a:defRPr>
            </a:lvl4pPr>
            <a:lvl5pPr marL="2241012" algn="l" defTabSz="1120506" rtl="0" eaLnBrk="1" latinLnBrk="0" hangingPunct="1">
              <a:defRPr sz="2206" kern="1200">
                <a:solidFill>
                  <a:schemeClr val="tx1"/>
                </a:solidFill>
                <a:latin typeface="+mn-lt"/>
                <a:ea typeface="+mn-ea"/>
                <a:cs typeface="+mn-cs"/>
              </a:defRPr>
            </a:lvl5pPr>
            <a:lvl6pPr marL="2801264" algn="l" defTabSz="1120506" rtl="0" eaLnBrk="1" latinLnBrk="0" hangingPunct="1">
              <a:defRPr sz="2206" kern="1200">
                <a:solidFill>
                  <a:schemeClr val="tx1"/>
                </a:solidFill>
                <a:latin typeface="+mn-lt"/>
                <a:ea typeface="+mn-ea"/>
                <a:cs typeface="+mn-cs"/>
              </a:defRPr>
            </a:lvl6pPr>
            <a:lvl7pPr marL="3361517" algn="l" defTabSz="1120506" rtl="0" eaLnBrk="1" latinLnBrk="0" hangingPunct="1">
              <a:defRPr sz="2206" kern="1200">
                <a:solidFill>
                  <a:schemeClr val="tx1"/>
                </a:solidFill>
                <a:latin typeface="+mn-lt"/>
                <a:ea typeface="+mn-ea"/>
                <a:cs typeface="+mn-cs"/>
              </a:defRPr>
            </a:lvl7pPr>
            <a:lvl8pPr marL="3921770" algn="l" defTabSz="1120506" rtl="0" eaLnBrk="1" latinLnBrk="0" hangingPunct="1">
              <a:defRPr sz="2206" kern="1200">
                <a:solidFill>
                  <a:schemeClr val="tx1"/>
                </a:solidFill>
                <a:latin typeface="+mn-lt"/>
                <a:ea typeface="+mn-ea"/>
                <a:cs typeface="+mn-cs"/>
              </a:defRPr>
            </a:lvl8pPr>
            <a:lvl9pPr marL="4482023" algn="l" defTabSz="1120506" rtl="0" eaLnBrk="1" latinLnBrk="0" hangingPunct="1">
              <a:defRPr sz="2206" kern="1200">
                <a:solidFill>
                  <a:schemeClr val="tx1"/>
                </a:solidFill>
                <a:latin typeface="+mn-lt"/>
                <a:ea typeface="+mn-ea"/>
                <a:cs typeface="+mn-cs"/>
              </a:defRPr>
            </a:lvl9pPr>
          </a:lstStyle>
          <a:p>
            <a:pPr algn="ctr">
              <a:lnSpc>
                <a:spcPct val="96985"/>
              </a:lnSpc>
            </a:pPr>
            <a:r>
              <a:rPr lang="en-US" sz="8000" b="1">
                <a:solidFill>
                  <a:srgbClr val="526001"/>
                </a:solidFill>
                <a:latin typeface="Ink Free" panose="03080402000500000000" pitchFamily="66" charset="0"/>
                <a:ea typeface="Roboto"/>
                <a:cs typeface="Roboto"/>
              </a:rPr>
              <a:t>Thank you!</a:t>
            </a:r>
          </a:p>
        </p:txBody>
      </p:sp>
    </p:spTree>
    <p:extLst>
      <p:ext uri="{BB962C8B-B14F-4D97-AF65-F5344CB8AC3E}">
        <p14:creationId xmlns:p14="http://schemas.microsoft.com/office/powerpoint/2010/main" val="2965922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9B863-969F-1606-41FD-C83AC5904B41}"/>
            </a:ext>
          </a:extLst>
        </p:cNvPr>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86E806BC-C379-42F6-7B96-2F918E29B44A}"/>
              </a:ext>
            </a:extLst>
          </p:cNvPr>
          <p:cNvPicPr>
            <a:picLocks noChangeAspect="1"/>
          </p:cNvPicPr>
          <p:nvPr>
            <p:custDataLst>
              <p:tags r:id="rId1"/>
            </p:custDataLst>
          </p:nvPr>
        </p:nvPicPr>
        <p:blipFill>
          <a:blip r:embed="rId4"/>
          <a:stretch>
            <a:fillRect/>
          </a:stretch>
        </p:blipFill>
        <p:spPr>
          <a:xfrm>
            <a:off x="11123149" y="5796335"/>
            <a:ext cx="858883" cy="858883"/>
          </a:xfrm>
          <a:prstGeom prst="rect">
            <a:avLst/>
          </a:prstGeom>
        </p:spPr>
      </p:pic>
      <p:sp>
        <p:nvSpPr>
          <p:cNvPr id="3" name="Title 1">
            <a:extLst>
              <a:ext uri="{FF2B5EF4-FFF2-40B4-BE49-F238E27FC236}">
                <a16:creationId xmlns:a16="http://schemas.microsoft.com/office/drawing/2014/main" id="{FA62D85A-20F2-1D80-5C1E-13C01E0F865B}"/>
              </a:ext>
            </a:extLst>
          </p:cNvPr>
          <p:cNvSpPr txBox="1">
            <a:spLocks/>
          </p:cNvSpPr>
          <p:nvPr/>
        </p:nvSpPr>
        <p:spPr>
          <a:xfrm>
            <a:off x="244997" y="194900"/>
            <a:ext cx="11702005" cy="10435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rgbClr val="526001"/>
                </a:solidFill>
                <a:latin typeface="Roboto" panose="02000000000000000000" pitchFamily="2" charset="0"/>
                <a:ea typeface="Roboto" panose="02000000000000000000" pitchFamily="2" charset="0"/>
                <a:cs typeface="Roboto" panose="02000000000000000000" pitchFamily="2" charset="0"/>
              </a:rPr>
              <a:t>7| Resources</a:t>
            </a:r>
          </a:p>
        </p:txBody>
      </p:sp>
      <p:sp>
        <p:nvSpPr>
          <p:cNvPr id="5" name="Content Placeholder 2">
            <a:extLst>
              <a:ext uri="{FF2B5EF4-FFF2-40B4-BE49-F238E27FC236}">
                <a16:creationId xmlns:a16="http://schemas.microsoft.com/office/drawing/2014/main" id="{A9567E08-02FD-004E-0990-DE3A7CD6F573}"/>
              </a:ext>
            </a:extLst>
          </p:cNvPr>
          <p:cNvSpPr>
            <a:spLocks noGrp="1"/>
          </p:cNvSpPr>
          <p:nvPr>
            <p:ph idx="1"/>
          </p:nvPr>
        </p:nvSpPr>
        <p:spPr>
          <a:xfrm>
            <a:off x="527243" y="1230609"/>
            <a:ext cx="7454025" cy="5424609"/>
          </a:xfrm>
        </p:spPr>
        <p:txBody>
          <a:bodyPr vert="horz" lIns="91440" tIns="45720" rIns="91440" bIns="45720" rtlCol="0" anchor="t">
            <a:normAutofit fontScale="77500" lnSpcReduction="20000"/>
          </a:bodyPr>
          <a:lstStyle/>
          <a:p>
            <a:pPr marL="0" indent="0">
              <a:buNone/>
            </a:pPr>
            <a:r>
              <a:rPr lang="en-US" sz="2000" b="1">
                <a:latin typeface="Roboto" panose="02000000000000000000" pitchFamily="2" charset="0"/>
                <a:ea typeface="Roboto" panose="02000000000000000000" pitchFamily="2" charset="0"/>
                <a:cs typeface="Roboto" panose="02000000000000000000" pitchFamily="2" charset="0"/>
              </a:rPr>
              <a:t>Main references</a:t>
            </a: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https://ggplot2-book.org</a:t>
            </a:r>
          </a:p>
          <a:p>
            <a:pPr marL="0" indent="0">
              <a:buNone/>
            </a:pPr>
            <a:r>
              <a:rPr lang="en-AU" sz="2000">
                <a:latin typeface="Roboto" panose="02000000000000000000" pitchFamily="2" charset="0"/>
                <a:ea typeface="Roboto" panose="02000000000000000000" pitchFamily="2" charset="0"/>
                <a:cs typeface="Roboto" panose="02000000000000000000" pitchFamily="2" charset="0"/>
              </a:rPr>
              <a:t>https://ggplot2.tidyverse.org/articles/ggplot2.html</a:t>
            </a: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a:t>
            </a:r>
            <a:r>
              <a:rPr lang="en-US" sz="2000" err="1">
                <a:latin typeface="Roboto" panose="02000000000000000000" pitchFamily="2" charset="0"/>
                <a:ea typeface="Roboto" panose="02000000000000000000" pitchFamily="2" charset="0"/>
                <a:cs typeface="Roboto" panose="02000000000000000000" pitchFamily="2" charset="0"/>
              </a:rPr>
              <a:t>github.com</a:t>
            </a:r>
            <a:r>
              <a:rPr lang="en-US" sz="2000">
                <a:latin typeface="Roboto" panose="02000000000000000000" pitchFamily="2" charset="0"/>
                <a:ea typeface="Roboto" panose="02000000000000000000" pitchFamily="2" charset="0"/>
                <a:cs typeface="Roboto" panose="02000000000000000000" pitchFamily="2" charset="0"/>
              </a:rPr>
              <a:t>/Anne-</a:t>
            </a:r>
            <a:r>
              <a:rPr lang="en-US" sz="2000" err="1">
                <a:latin typeface="Roboto" panose="02000000000000000000" pitchFamily="2" charset="0"/>
                <a:ea typeface="Roboto" panose="02000000000000000000" pitchFamily="2" charset="0"/>
                <a:cs typeface="Roboto" panose="02000000000000000000" pitchFamily="2" charset="0"/>
              </a:rPr>
              <a:t>LiseGerard</a:t>
            </a:r>
            <a:r>
              <a:rPr lang="en-US" sz="2000">
                <a:latin typeface="Roboto" panose="02000000000000000000" pitchFamily="2" charset="0"/>
                <a:ea typeface="Roboto" panose="02000000000000000000" pitchFamily="2" charset="0"/>
                <a:cs typeface="Roboto" panose="02000000000000000000" pitchFamily="2" charset="0"/>
              </a:rPr>
              <a:t>/</a:t>
            </a:r>
            <a:r>
              <a:rPr lang="en-US" sz="2000" err="1">
                <a:latin typeface="Roboto" panose="02000000000000000000" pitchFamily="2" charset="0"/>
                <a:ea typeface="Roboto" panose="02000000000000000000" pitchFamily="2" charset="0"/>
                <a:cs typeface="Roboto" panose="02000000000000000000" pitchFamily="2" charset="0"/>
              </a:rPr>
              <a:t>ggplot_bioedu</a:t>
            </a:r>
            <a:endParaRPr lang="en-US" sz="2000">
              <a:latin typeface="Roboto" panose="02000000000000000000" pitchFamily="2" charset="0"/>
              <a:ea typeface="Roboto" panose="02000000000000000000" pitchFamily="2" charset="0"/>
              <a:cs typeface="Roboto" panose="02000000000000000000" pitchFamily="2" charset="0"/>
            </a:endParaRPr>
          </a:p>
          <a:p>
            <a:pPr marL="0" indent="0">
              <a:buNone/>
            </a:pPr>
            <a:endParaRPr lang="en-US" sz="2000" b="1">
              <a:latin typeface="Roboto" panose="02000000000000000000" pitchFamily="2" charset="0"/>
              <a:ea typeface="Roboto" panose="02000000000000000000" pitchFamily="2" charset="0"/>
              <a:cs typeface="Roboto" panose="02000000000000000000" pitchFamily="2" charset="0"/>
            </a:endParaRPr>
          </a:p>
          <a:p>
            <a:pPr marL="0" indent="0">
              <a:buNone/>
            </a:pPr>
            <a:r>
              <a:rPr lang="en-US" sz="2000" b="1">
                <a:latin typeface="Roboto" panose="02000000000000000000" pitchFamily="2" charset="0"/>
                <a:ea typeface="Roboto" panose="02000000000000000000" pitchFamily="2" charset="0"/>
                <a:cs typeface="Roboto" panose="02000000000000000000" pitchFamily="2" charset="0"/>
              </a:rPr>
              <a:t>Packages</a:t>
            </a:r>
          </a:p>
          <a:p>
            <a:pPr marL="0" indent="0">
              <a:buNone/>
            </a:pPr>
            <a:r>
              <a:rPr lang="en-AU" sz="2000">
                <a:latin typeface="Roboto" panose="02000000000000000000" pitchFamily="2" charset="0"/>
                <a:ea typeface="Roboto" panose="02000000000000000000" pitchFamily="2" charset="0"/>
                <a:cs typeface="Roboto" panose="02000000000000000000" pitchFamily="2" charset="0"/>
              </a:rPr>
              <a:t>https://</a:t>
            </a:r>
            <a:r>
              <a:rPr lang="en-AU" sz="2000" err="1">
                <a:latin typeface="Roboto" panose="02000000000000000000" pitchFamily="2" charset="0"/>
                <a:ea typeface="Roboto" panose="02000000000000000000" pitchFamily="2" charset="0"/>
                <a:cs typeface="Roboto" panose="02000000000000000000" pitchFamily="2" charset="0"/>
              </a:rPr>
              <a:t>github.com</a:t>
            </a:r>
            <a:r>
              <a:rPr lang="en-AU" sz="2000">
                <a:latin typeface="Roboto" panose="02000000000000000000" pitchFamily="2" charset="0"/>
                <a:ea typeface="Roboto" panose="02000000000000000000" pitchFamily="2" charset="0"/>
                <a:cs typeface="Roboto" panose="02000000000000000000" pitchFamily="2" charset="0"/>
              </a:rPr>
              <a:t>/</a:t>
            </a:r>
            <a:r>
              <a:rPr lang="en-AU" sz="2000" err="1">
                <a:latin typeface="Roboto" panose="02000000000000000000" pitchFamily="2" charset="0"/>
                <a:ea typeface="Roboto" panose="02000000000000000000" pitchFamily="2" charset="0"/>
                <a:cs typeface="Roboto" panose="02000000000000000000" pitchFamily="2" charset="0"/>
              </a:rPr>
              <a:t>erikgahner</a:t>
            </a:r>
            <a:r>
              <a:rPr lang="en-AU" sz="2000">
                <a:latin typeface="Roboto" panose="02000000000000000000" pitchFamily="2" charset="0"/>
                <a:ea typeface="Roboto" panose="02000000000000000000" pitchFamily="2" charset="0"/>
                <a:cs typeface="Roboto" panose="02000000000000000000" pitchFamily="2" charset="0"/>
              </a:rPr>
              <a:t>/awesome-ggplot2</a:t>
            </a:r>
            <a:endParaRPr lang="en-US" sz="2000">
              <a:latin typeface="Roboto" panose="02000000000000000000" pitchFamily="2" charset="0"/>
              <a:ea typeface="Roboto" panose="02000000000000000000" pitchFamily="2" charset="0"/>
              <a:cs typeface="Roboto" panose="02000000000000000000" pitchFamily="2" charset="0"/>
            </a:endParaRP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a:t>
            </a:r>
            <a:r>
              <a:rPr lang="en-US" sz="2000" err="1">
                <a:latin typeface="Roboto" panose="02000000000000000000" pitchFamily="2" charset="0"/>
                <a:ea typeface="Roboto" panose="02000000000000000000" pitchFamily="2" charset="0"/>
                <a:cs typeface="Roboto" panose="02000000000000000000" pitchFamily="2" charset="0"/>
              </a:rPr>
              <a:t>tidyverse.org</a:t>
            </a:r>
            <a:endParaRPr lang="en-US" sz="2000">
              <a:latin typeface="Roboto" panose="02000000000000000000" pitchFamily="2" charset="0"/>
              <a:ea typeface="Roboto" panose="02000000000000000000" pitchFamily="2" charset="0"/>
              <a:cs typeface="Roboto" panose="02000000000000000000" pitchFamily="2" charset="0"/>
            </a:endParaRP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https://ggplot2.tidyverse.org</a:t>
            </a:r>
          </a:p>
          <a:p>
            <a:pPr marL="0" indent="0">
              <a:buNone/>
            </a:pPr>
            <a:r>
              <a:rPr lang="en-AU" sz="2000">
                <a:latin typeface="Roboto" panose="02000000000000000000" pitchFamily="2" charset="0"/>
                <a:ea typeface="Roboto" panose="02000000000000000000" pitchFamily="2" charset="0"/>
                <a:cs typeface="Roboto" panose="02000000000000000000" pitchFamily="2" charset="0"/>
              </a:rPr>
              <a:t>https://</a:t>
            </a:r>
            <a:r>
              <a:rPr lang="en-AU" sz="2000" err="1">
                <a:latin typeface="Roboto" panose="02000000000000000000" pitchFamily="2" charset="0"/>
                <a:ea typeface="Roboto" panose="02000000000000000000" pitchFamily="2" charset="0"/>
                <a:cs typeface="Roboto" panose="02000000000000000000" pitchFamily="2" charset="0"/>
              </a:rPr>
              <a:t>github.com</a:t>
            </a:r>
            <a:r>
              <a:rPr lang="en-AU" sz="2000">
                <a:latin typeface="Roboto" panose="02000000000000000000" pitchFamily="2" charset="0"/>
                <a:ea typeface="Roboto" panose="02000000000000000000" pitchFamily="2" charset="0"/>
                <a:cs typeface="Roboto" panose="02000000000000000000" pitchFamily="2" charset="0"/>
              </a:rPr>
              <a:t>/</a:t>
            </a:r>
            <a:r>
              <a:rPr lang="en-AU" sz="2000" err="1">
                <a:latin typeface="Roboto" panose="02000000000000000000" pitchFamily="2" charset="0"/>
                <a:ea typeface="Roboto" panose="02000000000000000000" pitchFamily="2" charset="0"/>
                <a:cs typeface="Roboto" panose="02000000000000000000" pitchFamily="2" charset="0"/>
              </a:rPr>
              <a:t>themepark</a:t>
            </a:r>
            <a:r>
              <a:rPr lang="en-AU" sz="2000">
                <a:latin typeface="Roboto" panose="02000000000000000000" pitchFamily="2" charset="0"/>
                <a:ea typeface="Roboto" panose="02000000000000000000" pitchFamily="2" charset="0"/>
                <a:cs typeface="Roboto" panose="02000000000000000000" pitchFamily="2" charset="0"/>
              </a:rPr>
              <a:t>-dev/</a:t>
            </a:r>
            <a:r>
              <a:rPr lang="en-AU" sz="2000" err="1">
                <a:latin typeface="Roboto" panose="02000000000000000000" pitchFamily="2" charset="0"/>
                <a:ea typeface="Roboto" panose="02000000000000000000" pitchFamily="2" charset="0"/>
                <a:cs typeface="Roboto" panose="02000000000000000000" pitchFamily="2" charset="0"/>
              </a:rPr>
              <a:t>theme.park</a:t>
            </a:r>
            <a:endParaRPr lang="en-AU" sz="2000">
              <a:latin typeface="Roboto" panose="02000000000000000000" pitchFamily="2" charset="0"/>
              <a:ea typeface="Roboto" panose="02000000000000000000" pitchFamily="2" charset="0"/>
              <a:cs typeface="Roboto" panose="02000000000000000000" pitchFamily="2" charset="0"/>
            </a:endParaRP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a:t>
            </a:r>
            <a:r>
              <a:rPr lang="en-US" sz="2000" err="1">
                <a:latin typeface="Roboto" panose="02000000000000000000" pitchFamily="2" charset="0"/>
                <a:ea typeface="Roboto" panose="02000000000000000000" pitchFamily="2" charset="0"/>
                <a:cs typeface="Roboto" panose="02000000000000000000" pitchFamily="2" charset="0"/>
              </a:rPr>
              <a:t>github.com</a:t>
            </a:r>
            <a:r>
              <a:rPr lang="en-US" sz="2000">
                <a:latin typeface="Roboto" panose="02000000000000000000" pitchFamily="2" charset="0"/>
                <a:ea typeface="Roboto" panose="02000000000000000000" pitchFamily="2" charset="0"/>
                <a:cs typeface="Roboto" panose="02000000000000000000" pitchFamily="2" charset="0"/>
              </a:rPr>
              <a:t>/</a:t>
            </a:r>
            <a:r>
              <a:rPr lang="en-US" sz="2000" err="1">
                <a:latin typeface="Roboto" panose="02000000000000000000" pitchFamily="2" charset="0"/>
                <a:ea typeface="Roboto" panose="02000000000000000000" pitchFamily="2" charset="0"/>
                <a:cs typeface="Roboto" panose="02000000000000000000" pitchFamily="2" charset="0"/>
              </a:rPr>
              <a:t>junqueiragaabi</a:t>
            </a:r>
            <a:r>
              <a:rPr lang="en-US" sz="2000">
                <a:latin typeface="Roboto" panose="02000000000000000000" pitchFamily="2" charset="0"/>
                <a:ea typeface="Roboto" panose="02000000000000000000" pitchFamily="2" charset="0"/>
                <a:cs typeface="Roboto" panose="02000000000000000000" pitchFamily="2" charset="0"/>
              </a:rPr>
              <a:t>/</a:t>
            </a:r>
            <a:r>
              <a:rPr lang="en-US" sz="2000" err="1">
                <a:latin typeface="Roboto" panose="02000000000000000000" pitchFamily="2" charset="0"/>
                <a:ea typeface="Roboto" panose="02000000000000000000" pitchFamily="2" charset="0"/>
                <a:cs typeface="Roboto" panose="02000000000000000000" pitchFamily="2" charset="0"/>
              </a:rPr>
              <a:t>ButterflyColors</a:t>
            </a:r>
            <a:endParaRPr lang="en-US" sz="2000">
              <a:latin typeface="Roboto" panose="02000000000000000000" pitchFamily="2" charset="0"/>
              <a:ea typeface="Roboto" panose="02000000000000000000" pitchFamily="2" charset="0"/>
              <a:cs typeface="Roboto" panose="02000000000000000000" pitchFamily="2" charset="0"/>
            </a:endParaRP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a:t>
            </a:r>
            <a:r>
              <a:rPr lang="en-US" sz="2000" err="1">
                <a:latin typeface="Roboto" panose="02000000000000000000" pitchFamily="2" charset="0"/>
                <a:ea typeface="Roboto" panose="02000000000000000000" pitchFamily="2" charset="0"/>
                <a:cs typeface="Roboto" panose="02000000000000000000" pitchFamily="2" charset="0"/>
              </a:rPr>
              <a:t>github.com</a:t>
            </a:r>
            <a:r>
              <a:rPr lang="en-US" sz="2000">
                <a:latin typeface="Roboto" panose="02000000000000000000" pitchFamily="2" charset="0"/>
                <a:ea typeface="Roboto" panose="02000000000000000000" pitchFamily="2" charset="0"/>
                <a:cs typeface="Roboto" panose="02000000000000000000" pitchFamily="2" charset="0"/>
              </a:rPr>
              <a:t>/</a:t>
            </a:r>
            <a:r>
              <a:rPr lang="en-US" sz="2000" err="1">
                <a:latin typeface="Roboto" panose="02000000000000000000" pitchFamily="2" charset="0"/>
                <a:ea typeface="Roboto" panose="02000000000000000000" pitchFamily="2" charset="0"/>
                <a:cs typeface="Roboto" panose="02000000000000000000" pitchFamily="2" charset="0"/>
              </a:rPr>
              <a:t>cran</a:t>
            </a:r>
            <a:r>
              <a:rPr lang="en-US" sz="2000">
                <a:latin typeface="Roboto" panose="02000000000000000000" pitchFamily="2" charset="0"/>
                <a:ea typeface="Roboto" panose="02000000000000000000" pitchFamily="2" charset="0"/>
                <a:cs typeface="Roboto" panose="02000000000000000000" pitchFamily="2" charset="0"/>
              </a:rPr>
              <a:t>/</a:t>
            </a:r>
            <a:r>
              <a:rPr lang="en-US" sz="2000" err="1">
                <a:latin typeface="Roboto" panose="02000000000000000000" pitchFamily="2" charset="0"/>
                <a:ea typeface="Roboto" panose="02000000000000000000" pitchFamily="2" charset="0"/>
                <a:cs typeface="Roboto" panose="02000000000000000000" pitchFamily="2" charset="0"/>
              </a:rPr>
              <a:t>tayloRswift</a:t>
            </a:r>
            <a:endParaRPr lang="en-US" sz="2000">
              <a:latin typeface="Roboto" panose="02000000000000000000" pitchFamily="2" charset="0"/>
              <a:ea typeface="Roboto" panose="02000000000000000000" pitchFamily="2" charset="0"/>
              <a:cs typeface="Roboto" panose="02000000000000000000" pitchFamily="2" charset="0"/>
            </a:endParaRPr>
          </a:p>
          <a:p>
            <a:pPr marL="0" indent="0">
              <a:buNone/>
            </a:pPr>
            <a:endParaRPr lang="en-US" sz="2000" b="1">
              <a:latin typeface="Roboto" panose="02000000000000000000" pitchFamily="2" charset="0"/>
              <a:ea typeface="Roboto" panose="02000000000000000000" pitchFamily="2" charset="0"/>
              <a:cs typeface="Roboto" panose="02000000000000000000" pitchFamily="2" charset="0"/>
            </a:endParaRPr>
          </a:p>
          <a:p>
            <a:pPr marL="0" indent="0">
              <a:buNone/>
            </a:pPr>
            <a:r>
              <a:rPr lang="en-US" sz="2000" b="1">
                <a:latin typeface="Roboto" panose="02000000000000000000" pitchFamily="2" charset="0"/>
                <a:ea typeface="Roboto" panose="02000000000000000000" pitchFamily="2" charset="0"/>
                <a:cs typeface="Roboto" panose="02000000000000000000" pitchFamily="2" charset="0"/>
              </a:rPr>
              <a:t>Illustrations</a:t>
            </a: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https://github.com/allisonhorst/stats-illustrations</a:t>
            </a:r>
          </a:p>
          <a:p>
            <a:pPr marL="0" indent="0">
              <a:buNone/>
            </a:pPr>
            <a:r>
              <a:rPr lang="en-US" sz="2000">
                <a:latin typeface="Roboto" panose="02000000000000000000" pitchFamily="2" charset="0"/>
                <a:ea typeface="Roboto" panose="02000000000000000000" pitchFamily="2" charset="0"/>
                <a:cs typeface="Roboto" panose="02000000000000000000" pitchFamily="2" charset="0"/>
              </a:rPr>
              <a:t>https://</a:t>
            </a:r>
            <a:r>
              <a:rPr lang="en-US" sz="2000" err="1">
                <a:latin typeface="Roboto" panose="02000000000000000000" pitchFamily="2" charset="0"/>
                <a:ea typeface="Roboto" panose="02000000000000000000" pitchFamily="2" charset="0"/>
                <a:cs typeface="Roboto" panose="02000000000000000000" pitchFamily="2" charset="0"/>
              </a:rPr>
              <a:t>carbon.now.sh</a:t>
            </a:r>
            <a:endParaRPr lang="en-US" sz="2000">
              <a:latin typeface="Roboto" panose="02000000000000000000" pitchFamily="2" charset="0"/>
              <a:ea typeface="Roboto" panose="02000000000000000000" pitchFamily="2" charset="0"/>
              <a:cs typeface="Roboto" panose="02000000000000000000" pitchFamily="2" charset="0"/>
            </a:endParaRPr>
          </a:p>
          <a:p>
            <a:pPr marL="0" indent="0">
              <a:buNone/>
            </a:pPr>
            <a:r>
              <a:rPr lang="en-US" sz="2000">
                <a:latin typeface="Roboto" panose="02000000000000000000" pitchFamily="2" charset="0"/>
                <a:ea typeface="Roboto" panose="02000000000000000000" pitchFamily="2" charset="0"/>
                <a:cs typeface="Roboto" panose="02000000000000000000" pitchFamily="2" charset="0"/>
              </a:rPr>
              <a:t>Claude AI</a:t>
            </a:r>
          </a:p>
          <a:p>
            <a:pPr marL="0" indent="0">
              <a:buNone/>
            </a:pPr>
            <a:r>
              <a:rPr lang="en-US" sz="2000">
                <a:latin typeface="Roboto" panose="02000000000000000000" pitchFamily="2" charset="0"/>
                <a:ea typeface="Roboto" panose="02000000000000000000" pitchFamily="2" charset="0"/>
                <a:cs typeface="Roboto" panose="02000000000000000000" pitchFamily="2" charset="0"/>
              </a:rPr>
              <a:t>Somewhere on the internet for the ones I forgot to write down…</a:t>
            </a:r>
          </a:p>
          <a:p>
            <a:pPr marL="0" indent="0">
              <a:buNone/>
            </a:pPr>
            <a:endParaRPr lang="en-US" sz="1000">
              <a:latin typeface="Roboto" panose="02000000000000000000" pitchFamily="2" charset="0"/>
              <a:ea typeface="Roboto" panose="02000000000000000000" pitchFamily="2" charset="0"/>
              <a:cs typeface="Roboto" panose="02000000000000000000" pitchFamily="2" charset="0"/>
            </a:endParaRPr>
          </a:p>
          <a:p>
            <a:pPr marL="0" indent="0">
              <a:buNone/>
            </a:pPr>
            <a:endParaRPr lang="en-US" sz="1000" b="1">
              <a:latin typeface="Roboto" panose="02000000000000000000" pitchFamily="2" charset="0"/>
              <a:ea typeface="Roboto" panose="02000000000000000000" pitchFamily="2" charset="0"/>
              <a:cs typeface="Roboto" panose="02000000000000000000" pitchFamily="2" charset="0"/>
            </a:endParaRPr>
          </a:p>
          <a:p>
            <a:endParaRPr lang="en-US">
              <a:latin typeface="Roboto" panose="02000000000000000000" pitchFamily="2" charset="0"/>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17952AB7-C5CE-AC48-9392-7B786EAF49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8316" y="2867378"/>
            <a:ext cx="5328166" cy="3990622"/>
          </a:xfrm>
          <a:prstGeom prst="rect">
            <a:avLst/>
          </a:prstGeom>
        </p:spPr>
      </p:pic>
    </p:spTree>
    <p:extLst>
      <p:ext uri="{BB962C8B-B14F-4D97-AF65-F5344CB8AC3E}">
        <p14:creationId xmlns:p14="http://schemas.microsoft.com/office/powerpoint/2010/main" val="379725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PORTMETHOD" val="pptx_import_from_addin"/>
  <p:tag name="ILLUSTRATIONID" val="68902bef43f1e268f087ac1b"/>
  <p:tag name="SLIDEID" val="34952328-dbfd-4084-929d-ff7217cf70c3"/>
  <p:tag name="VERSION" val="1755497607220"/>
  <p:tag name="TITLE" val="CCLBP JC"/>
  <p:tag name="CREATORNAME" val="Anne-Lise Gerard"/>
  <p:tag name="DATEINSERTED" val="1777951052352"/>
  <p:tag name="DPI" val="300"/>
  <p:tag name="BIOJSON" val="{&quot;id&quot;:&quot;1a787146-c615-4128-8f8c-8008da5629d2&quot;,&quot;objects&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9633fb5-7b35-41db-b762-566c165b0f44&quot;:{&quot;id&quot;:&quot;19633fb5-7b35-41db-b762-566c165b0f44&quot;,&quot;type&quot;:&quot;FIGURE_OBJECT&quot;,&quot;relativeTransform&quot;:{&quot;translate&quot;:{&quot;x&quot;:0,&quot;y&quot;:0},&quot;rotate&quot;:0,&quot;skewX&quot;:0,&quot;scale&quot;:{&quot;x&quot;:1,&quot;y&quot;:1}},&quot;path&quot;:{&quot;type&quot;:&quot;RECT&quot;,&quot;size&quot;:{&quot;x&quot;:960,&quot;y&quot;:672}},&quot;pathStyles&quot;:[{&quot;type&quot;:&quot;FILL&quot;,&quot;fillStyle&quot;:&quot;rgba(0,0,0,0)&quot;}],&quot;parent&quot;:{&quot;type&quot;:&quot;FRAME&quot;,&quot;parentId&quot;:&quot;34952328-dbfd-4084-929d-ff7217cf70c3&quot;,&quot;order&quot;:&quot;5&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e16ece55-9f9b-4adf-beeb-6932d24e3419&quot;:{&quot;id&quot;:&quot;e16ece55-9f9b-4adf-beeb-6932d24e3419&quot;,&quot;type&quot;:&quot;FIGURE_OBJECT&quot;,&quot;relativeTransform&quot;:{&quot;translate&quot;:{&quot;x&quot;:1.4309155400476108,&quot;y&quot;:-61.305329752953824},&quot;rotate&quot;:0,&quot;skewX&quot;:0,&quot;scale&quot;:{&quot;x&quot;:1,&quot;y&quot;:1}},&quot;text&quot;:{&quot;textData&quot;:{&quot;lineSpacing&quot;:&quot;normal&quot;,&quot;alignment&quot;:&quot;center&quot;,&quot;verticalAlign&quot;:&quot;CENTER&quot;,&quot;lines&quot;:[{&quot;runs&quot;:[{&quot;style&quot;:{&quot;fontWeight&quot;:&quot;normal&quot;,&quot;fontStyle&quot;:&quot;normal&quot;,&quot;fontSize&quot;:37.33333333333333,&quot;fontFamily&quot;:&quot;Roboto&quot;,&quot;color&quot;:&quot;black&quot;,&quot;decoration&quot;:&quot;none&quot;},&quot;range&quot;:[0,126]}],&quot;text&quot;:&quot;A cycling, progenitor-like cell population at the base of atypical teratoid rhabdoid tumor subtype differentiation trajectories&quot;,&quot;baseStyle&quot;:{&quot;fontFamily&quot;:&quot;Roboto&quot;,&quot;fontSize&quot;:37.33333333333333,&quot;color&quot;:&quot;black&quot;,&quot;fontWeight&quot;:&quot;normal&quot;,&quot;fontStyle&quot;:&quot;normal&quot;,&quot;decoration&quot;:&quot;none&quot;,&quot;script&quot;:&quot;none&quot;}},{&quot;runs&quot;:[{&quot;style&quot;:{&quot;fontFamily&quot;:&quot;Roboto&quot;,&quot;fontSize&quot;:26.666666666666664,&quot;color&quot;:&quot;rgba(70,69,70,1)&quot;,&quot;fontWeight&quot;:&quot;normal&quot;,&quot;fontStyle&quot;:&quot;normal&quot;,&quot;decoration&quot;:&quot;none&quot;,&quot;script&quot;:&quot;none&quot;},&quot;range&quot;:[0,41]}],&quot;text&quot;:&quot;Blanco-Carmona et al., 2025 Neuro-oncology&quot;}],&quot;_lastCaretLocation&quot;:{&quot;lineIndex&quot;:1,&quot;runIndex&quot;:0,&quot;charIndex&quot;:0}},&quot;format&quot;:&quot;BETTER_TEXT&quot;,&quot;size&quot;:{&quot;x&quot;:908.6737169246861,&quot;y&quot;:164},&quot;targetSize&quot;:{&quot;x&quot;:908.6737169246861,&quot;y&quot;:143.72288053063212}},&quot;parent&quot;:{&quot;type&quot;:&quot;CHILD&quot;,&quot;parentId&quot;:&quot;34952328-dbfd-4084-929d-ff7217cf70c3&quot;,&quot;order&quot;:&quot;6&quot;}},&quot;ac510814-e8e1-41af-92b5-f308d8e66f86&quot;:{&quot;id&quot;:&quot;ac510814-e8e1-41af-92b5-f308d8e66f86&quot;,&quot;type&quot;:&quot;FIGURE_OBJECT&quot;,&quot;relativeTransform&quot;:{&quot;translate&quot;:{&quot;x&quot;:-368.45155562688177,&quot;y&quot;:300.22846871385974},&quot;rotate&quot;:0,&quot;skewX&quot;:0,&quot;scale&quot;:{&quot;x&quot;:1,&quot;y&quot;:1}},&quot;text&quot;:{&quot;textData&quot;:{&quot;lineSpacing&quot;:&quot;normal&quot;,&quot;alignment&quot;:&quot;center&quot;,&quot;verticalAlign&quot;:&quot;CENTER&quot;,&quot;lines&quot;:[{&quot;runs&quot;:[{&quot;style&quot;:{&quot;fontWeight&quot;:&quot;normal&quot;,&quot;fontStyle&quot;:&quot;normal&quot;,&quot;fontSize&quot;:18.666666666666664,&quot;fontFamily&quot;:&quot;Roboto&quot;,&quot;color&quot;:&quot;black&quot;,&quot;decoration&quot;:&quot;none&quot;},&quot;range&quot;:[0,20]}],&quot;text&quot;:&quot;Anne-Lise Gérard, PhD&quot;},{&quot;runs&quot;:[{&quot;style&quot;:{&quot;fontFamily&quot;:&quot;Roboto&quot;,&quot;fontSize&quot;:18.666666666666664,&quot;color&quot;:&quot;black&quot;,&quot;fontWeight&quot;:&quot;normal&quot;,&quot;fontStyle&quot;:&quot;normal&quot;,&quot;decoration&quot;:&quot;none&quot;,&quot;script&quot;:&quot;none&quot;},&quot;range&quot;:[0,18]}],&quot;text&quot;:&quot;agerard@ccia.org.au&quot;}],&quot;_lastCaretLocation&quot;:{&quot;lineIndex&quot;:1,&quot;runIndex&quot;:-1,&quot;charIndex&quot;:-1,&quot;endOfLine&quot;:true}},&quot;format&quot;:&quot;BETTER_TEXT&quot;,&quot;size&quot;:{&quot;x&quot;:223.09776062734753,&quot;y&quot;:71.54243265610162},&quot;targetSize&quot;:{&quot;x&quot;:223.09776062734753,&quot;y&quot;:71.54243265610162}},&quot;parent&quot;:{&quot;type&quot;:&quot;CHILD&quot;,&quot;parentId&quot;:&quot;34952328-dbfd-4084-929d-ff7217cf70c3&quot;,&quot;order&quot;:&quot;8&quot;}},&quot;445fd23f-4ac0-488d-9afc-c271b8c78605&quot;:{&quot;id&quot;:&quot;445fd23f-4ac0-488d-9afc-c271b8c78605&quot;,&quot;type&quot;:&quot;FIGURE_OBJECT&quot;,&quot;relativeTransform&quot;:{&quot;translate&quot;:{&quot;x&quot;:1.4314450549408022,&quot;y&quot;:73.26251234195728},&quot;rotate&quot;:0,&quot;skewX&quot;:0,&quot;scale&quot;:{&quot;x&quot;:1,&quot;y&quot;:1}},&quot;text&quot;:{&quot;textData&quot;:{&quot;lineSpacing&quot;:&quot;normal&quot;,&quot;alignment&quot;:&quot;center&quot;,&quot;verticalAlign&quot;:&quot;CENTER&quot;,&quot;lines&quot;:[{&quot;runs&quot;:[{&quot;style&quot;:{&quot;fontWeight&quot;:&quot;normal&quot;,&quot;fontStyle&quot;:&quot;normal&quot;,&quot;fontSize&quot;:26.666666666666664,&quot;fontFamily&quot;:&quot;Roboto&quot;,&quot;color&quot;:&quot;rgba(0, 150, 92, 1)&quot;,&quot;decoration&quot;:&quot;none&quot;},&quot;range&quot;:[0,17]}],&quot;text&quot;:&quot;CCLBP Journal Club&quot;},{&quot;runs&quot;:[{&quot;style&quot;:{&quot;fontWeight&quot;:&quot;normal&quot;,&quot;fontStyle&quot;:&quot;normal&quot;,&quot;fontSize&quot;:26.666666666666664,&quot;fontFamily&quot;:&quot;Roboto&quot;,&quot;color&quot;:&quot;rgba(0, 150, 92, 1)&quot;,&quot;decoration&quot;:&quot;none&quot;},&quot;range&quot;:[0,13]}],&quot;text&quot;:&quot;11 August 2025&quot;}],&quot;_lastCaretLocation&quot;:{&quot;lineIndex&quot;:1,&quot;runIndex&quot;:-1,&quot;charIndex&quot;:-1,&quot;endOfLine&quot;:true}},&quot;format&quot;:&quot;BETTER_TEXT&quot;,&quot;size&quot;:{&quot;x&quot;:908.6728661800364,&quot;y&quot;:91.13426850775991},&quot;targetSize&quot;:{&quot;x&quot;:908.6728661800364,&quot;y&quot;:91.13426850775991}},&quot;parent&quot;:{&quot;type&quot;:&quot;CHILD&quot;,&quot;parentId&quot;:&quot;34952328-dbfd-4084-929d-ff7217cf70c3&quot;,&quot;order&quot;:&quot;9&quot;}},&quot;1a787146-c615-4128-8f8c-8008da5629d2&quot;:{&quot;id&quot;:&quot;1a787146-c615-4128-8f8c-8008da5629d2&quot;,&quot;type&quot;:&quot;FIGURE_OBJECT&quot;,&quot;document&quot;:{&quot;type&quot;:&quot;DOCUMENT_GROUP&quot;,&quot;canvasType&quot;:&quot;SLIDE&quot;,&quot;units&quot;:&quot;in&quot;}}}}"/>
</p:tagLst>
</file>

<file path=ppt/tags/tag2.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3.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4.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5.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6.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7.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8.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9.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0.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1.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2.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3.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4.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5.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6.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7.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8.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19.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20.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21.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22.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23.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24.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ags/tag25.xml><?xml version="1.0" encoding="utf-8"?>
<p:tagLst xmlns:a="http://schemas.openxmlformats.org/drawingml/2006/main" xmlns:r="http://schemas.openxmlformats.org/officeDocument/2006/relationships" xmlns:p="http://schemas.openxmlformats.org/presentationml/2006/main">
  <p:tag name="ID" val="68902bef43f1e268f087ac1b"/>
  <p:tag name="FIGURESLIDEID" val="34952328-dbfd-4084-929d-ff7217cf70c3"/>
  <p:tag name="SELECTIONIDS" val="ea56c164-8645-4358-a1e1-ad584d8da153"/>
  <p:tag name="TRANSPARENTBACKGROUND" val="true"/>
  <p:tag name="VERSION" val="1755497607220"/>
  <p:tag name="TITLE" val="CCLBP JC"/>
  <p:tag name="CREATORNAME" val="Anne-Lise Gerard"/>
  <p:tag name="DATEINSERTED" val="1777951052352"/>
  <p:tag name="DPI" val="300"/>
  <p:tag name="BIOJSON" val="{&quot;id&quot;:&quot;1a787146-c615-4128-8f8c-8008da5629d2&quot;,&quot;objects&quot;:{&quot;ea56c164-8645-4358-a1e1-ad584d8da153&quot;:{&quot;id&quot;:&quot;ea56c164-8645-4358-a1e1-ad584d8da153&quot;,&quot;name&quot;:&quot;34b75512bxa.png&quot;,&quot;type&quot;:&quot;FIGURE_OBJECT&quot;,&quot;relativeTransform&quot;:{&quot;translate&quot;:{&quot;x&quot;:414.82152801968874,&quot;y&quot;:271.968850698174},&quot;rotate&quot;:0,&quot;skewX&quot;:0,&quot;scale&quot;:{&quot;x&quot;:0.2800000000000004,&quot;y&quot;:0.2800000000000004}},&quot;image&quot;:{&quot;url&quot;:&quot;https://core.services.biorender.com/api/uploads/681429333d980f9e0ce39472/1746151731265_d672ea27-29a3-421e-8e87-7219e507402a_icon.png&quot;,&quot;isPremium&quot;:false,&quot;isSignedURL&quot;:true,&quot;size&quot;:{&quot;x&quot;:300,&quot;y&quot;:300}},&quot;source&quot;:{&quot;id&quot;:&quot;681429333d980f9e0ce39472&quot;,&quot;type&quot;:&quot;UPLOADS&quot;},&quot;isPremium&quot;:false,&quot;parent&quot;:{&quot;type&quot;:&quot;CHILD&quot;,&quot;parentId&quot;:&quot;34952328-dbfd-4084-929d-ff7217cf70c3&quot;,&quot;order&quot;:&quot;5&quot;}},&quot;34952328-dbfd-4084-929d-ff7217cf70c3&quot;:{&quot;id&quot;:&quot;34952328-dbfd-4084-929d-ff7217cf70c3&quot;,&quot;type&quot;:&quot;FIGURE_OBJECT&quot;,&quot;document&quot;:{&quot;type&quot;:&quot;FIGURE&quot;,&quot;canvasType&quot;:&quot;FIGURE&quot;,&quot;units&quot;:&quot;in&quot;},&quot;parent&quot;:{&quot;type&quot;:&quot;DOCUMENT&quot;,&quot;parentId&quot;:&quot;1a787146-c615-4128-8f8c-8008da5629d2&quot;,&quot;order&quot;:&quot;6&quot;}},&quot;1a787146-c615-4128-8f8c-8008da5629d2&quot;:{&quot;id&quot;:&quot;1a787146-c615-4128-8f8c-8008da5629d2&quot;,&quot;type&quot;:&quot;FIGURE_OBJECT&quot;,&quot;document&quot;:{&quot;type&quot;:&quot;DOCUMENT_GROUP&quot;,&quot;canvasType&quot;:&quot;SLIDE&quot;,&quot;units&quot;:&quot;in&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09B2767-3A1A-4D58-A626-E51D4474FF82}">
  <we:reference id="c22bf5f7-55ef-4467-ac55-88a268666587" version="1.0.0.5" store="excatalog" storeType="excatalog"/>
  <we:alternateReferences>
    <we:reference id="WA200006038" version="1.0.0.5" store="en-us" storeType="omex"/>
  </we:alternateReferences>
  <we:properties>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emplate>office theme</Template>
  <TotalTime>0</TotalTime>
  <Words>2218</Words>
  <Application>Microsoft Macintosh PowerPoint</Application>
  <PresentationFormat>Widescreen</PresentationFormat>
  <Paragraphs>208</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-apple-system</vt:lpstr>
      <vt:lpstr>Aptos</vt:lpstr>
      <vt:lpstr>Aptos Display</vt:lpstr>
      <vt:lpstr>Arial</vt:lpstr>
      <vt:lpstr>Calibri</vt:lpstr>
      <vt:lpstr>Ink Free</vt:lpstr>
      <vt:lpstr>Roboto</vt:lpstr>
      <vt:lpstr>office theme</vt:lpstr>
      <vt:lpstr>PowerPoint Presentation</vt:lpstr>
      <vt:lpstr>1| Why ggplot?</vt:lpstr>
      <vt:lpstr>PowerPoint Presentation</vt:lpstr>
      <vt:lpstr>PowerPoint Presentation</vt:lpstr>
      <vt:lpstr>1| Why ggplot?</vt:lpstr>
      <vt:lpstr>1| Why ggplot?</vt:lpstr>
      <vt:lpstr>1| Why ggplot?</vt:lpstr>
      <vt:lpstr>1| Why ggplot?</vt:lpstr>
      <vt:lpstr>1| Why ggplot?</vt:lpstr>
      <vt:lpstr>2| How to ggplot?</vt:lpstr>
      <vt:lpstr>2| How to ggplot?</vt:lpstr>
      <vt:lpstr>2| How to ggplot?</vt:lpstr>
      <vt:lpstr>3| What’s a ggplot?</vt:lpstr>
      <vt:lpstr>4| Your first ggplot</vt:lpstr>
      <vt:lpstr>4| Your first ggplot</vt:lpstr>
      <vt:lpstr>4| Your first ggplot</vt:lpstr>
      <vt:lpstr>4| Your first ggplot</vt:lpstr>
      <vt:lpstr>4| Your first ggplot</vt:lpstr>
      <vt:lpstr>4| Your first ggplot</vt:lpstr>
      <vt:lpstr>4| Your first ggplot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Anne-Lise Gerard</cp:lastModifiedBy>
  <cp:revision>2</cp:revision>
  <dcterms:created xsi:type="dcterms:W3CDTF">2026-04-21T00:08:04Z</dcterms:created>
  <dcterms:modified xsi:type="dcterms:W3CDTF">2026-06-23T00:49:30Z</dcterms:modified>
</cp:coreProperties>
</file>